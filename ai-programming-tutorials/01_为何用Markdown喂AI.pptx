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你有没有试过把一份Word文档喂给AI，结果它反复追问‘这段格式是什么意思’？ 其实，90%的AI编程效率瓶颈，不在模型能力，而在输入格式。 今天我们就来聊聊——为什么Markdown才是AI时代的‘官方语言’？ 它不是炫技，而是让AI真正听懂你的第一步。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这份分享分为三个部分： 首先，我们厘清为什么Markdown是AI最适配的‘办公格式’； 然后，聚焦它如何无缝融入你的开发工作流； 最后，手把手带你用起来——从写第一行语法，到养成技术记录习惯。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现在我们来看第一个核心问题： 为何Markdown是AI编程的‘官方’交流格式？ 它不只是轻量，更是为AI理解而生的设计。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Markdown本质是一种‘极简指令语言’——用`#`代表标题，`-`代表列表，没有隐藏样式，没有冗余元数据。 AI不需要解析字体、页边距或嵌入对象，它直接读取语义结构。 就像人类用Excel处理表格，AI用Markdown处理逻辑、代码和需求描述——这才是真正的‘人机对齐’。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它已经深度嵌入开发者日常：VS Code开箱即用，Copilot默认优先解析`.md`文件。 更关键的是，你拖一个`.md`文件进AI对话框，它立刻能读；而Word或PDF，得先转、再删、再校验。 省下的不是几秒钟，而是整个工作流的信任成本。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Word里那些看不见的样式标记，对AI来说全是干扰噪音。 一次复制粘贴，格式就错乱？Markdown的`-`和`**`在任何编辑器里都稳如磐石。 你写的，就是AI看到的——没有失真，没有歧义，这才是高效协作的基础。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每多1个无效Token，就少1次有效提问。 `.docx`文件里80%的Token可能花在解析排版上；而`.md`文件几乎全是有效信息。 同样1000 Token预算，Markdown能塞进更多代码、更多上下文、更多精准需求——省钱，就是提效。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入门AI编程的第一步，不是调API，而是换一种记录方式。 从今天起，把技术笔记、提示词草稿、代码片段，全用Markdown写。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别被语法吓到——记住5个高频符号就够了： `#`定标题层级，`-`做清单，`**加粗**`标重点， ```包裹代码，`[链接](url)`连资源。 现在打开编辑器，敲下`# 我的第一个AI提示词`——完成，你已上路。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把它变成肌肉记忆：写提示词时用标题分段+代码块示例； 存代码时附说明和使用场景；记笔记时用列表归因、用分割线划重点。 这不是额外负担，而是让每一次输入，都成为可复用、可追溯、可共享的技术资产。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总结三个关键点： Markdown是AI最‘懂’的纯文本格式； 它省时间、省Token、省沟通成本； 从今天一条`#`开始，你就已在AI编程的主干道上。 谢谢，欢迎随时交流！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196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944226" y="1"/>
              <a:ext cx="1247775" cy="1247775"/>
            </a:xfrm>
            <a:custGeom>
              <a:avLst/>
              <a:gdLst/>
              <a:ahLst/>
              <a:cxnLst/>
              <a:rect l="l" t="t" r="r" b="b"/>
              <a:pathLst>
                <a:path w="1247775" h="1247775">
                  <a:moveTo>
                    <a:pt x="0" y="0"/>
                  </a:moveTo>
                  <a:lnTo>
                    <a:pt x="623888" y="0"/>
                  </a:lnTo>
                  <a:cubicBezTo>
                    <a:pt x="623888" y="301494"/>
                    <a:pt x="837745" y="553038"/>
                    <a:pt x="1122041" y="611213"/>
                  </a:cubicBezTo>
                  <a:lnTo>
                    <a:pt x="1247775" y="623888"/>
                  </a:lnTo>
                  <a:lnTo>
                    <a:pt x="1247775" y="1247775"/>
                  </a:lnTo>
                  <a:cubicBezTo>
                    <a:pt x="558648" y="1247775"/>
                    <a:pt x="0" y="68912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741680" y="1075689"/>
              <a:ext cx="10777220" cy="18000"/>
            </a:xfrm>
            <a:prstGeom prst="rect">
              <a:avLst/>
            </a:pr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377FF8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7" name="Group 7"/>
          <p:cNvGrpSpPr/>
          <p:nvPr/>
        </p:nvGrpSpPr>
        <p:grpSpPr>
          <a:xfrm rot="0">
            <a:off x="-12700" y="0"/>
            <a:ext cx="12192002" cy="6858001"/>
            <a:chOff x="-12700" y="0"/>
            <a:chExt cx="12192002" cy="6858001"/>
          </a:xfrm>
        </p:grpSpPr>
        <p:sp>
          <p:nvSpPr>
            <p:cNvPr id="8" name="AutoShape 8"/>
            <p:cNvSpPr/>
            <p:nvPr/>
          </p:nvSpPr>
          <p:spPr>
            <a:xfrm>
              <a:off x="1" y="1"/>
              <a:ext cx="12192000" cy="6858000"/>
            </a:xfrm>
            <a:prstGeom prst="rect">
              <a:avLst/>
            </a:prstGeom>
            <a:blipFill rotWithShape="1">
              <a:blip r:embed="rId3">
                <a:alphaModFix amt="100000"/>
                <a:alphaModFix amt="100000"/>
              </a:blip>
              <a:stretch>
                <a:fillRect l="-1820" t="-10556" r="-23457" b="-14721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-12700" y="0"/>
              <a:ext cx="12191999" cy="6858000"/>
            </a:xfrm>
            <a:prstGeom prst="rect">
              <a:avLst/>
            </a:prstGeom>
            <a:gradFill>
              <a:gsLst>
                <a:gs pos="56000">
                  <a:srgbClr val="E0E2EF">
                    <a:alpha val="7294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1" y="129117"/>
              <a:ext cx="5587999" cy="6599766"/>
              <a:chOff x="1" y="129117"/>
              <a:chExt cx="5587999" cy="659976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" y="129117"/>
                <a:ext cx="5587999" cy="6599766"/>
              </a:xfrm>
              <a:custGeom>
                <a:avLst/>
                <a:gdLst/>
                <a:ahLst/>
                <a:cxnLst/>
                <a:rect l="l" t="t" r="r" b="b"/>
                <a:pathLst>
                  <a:path w="5587999" h="6599766">
                    <a:moveTo>
                      <a:pt x="2288116" y="0"/>
                    </a:moveTo>
                    <a:cubicBezTo>
                      <a:pt x="4110591" y="0"/>
                      <a:pt x="5587999" y="1477408"/>
                      <a:pt x="5587999" y="3299883"/>
                    </a:cubicBezTo>
                    <a:cubicBezTo>
                      <a:pt x="5587999" y="5122358"/>
                      <a:pt x="4110591" y="6599766"/>
                      <a:pt x="2288116" y="6599766"/>
                    </a:cubicBezTo>
                    <a:cubicBezTo>
                      <a:pt x="1490783" y="6599766"/>
                      <a:pt x="759499" y="6316981"/>
                      <a:pt x="189084" y="5846233"/>
                    </a:cubicBezTo>
                    <a:lnTo>
                      <a:pt x="0" y="5674382"/>
                    </a:lnTo>
                    <a:lnTo>
                      <a:pt x="0" y="4632116"/>
                    </a:lnTo>
                    <a:lnTo>
                      <a:pt x="90746" y="4781489"/>
                    </a:lnTo>
                    <a:cubicBezTo>
                      <a:pt x="566959" y="5486377"/>
                      <a:pt x="1373416" y="5949821"/>
                      <a:pt x="2288116" y="5949821"/>
                    </a:cubicBezTo>
                    <a:cubicBezTo>
                      <a:pt x="3751636" y="5949821"/>
                      <a:pt x="4938054" y="4763403"/>
                      <a:pt x="4938054" y="3299883"/>
                    </a:cubicBezTo>
                    <a:cubicBezTo>
                      <a:pt x="4938054" y="1836363"/>
                      <a:pt x="3751636" y="649945"/>
                      <a:pt x="2288116" y="649945"/>
                    </a:cubicBezTo>
                    <a:cubicBezTo>
                      <a:pt x="1373416" y="649945"/>
                      <a:pt x="566959" y="1113390"/>
                      <a:pt x="90746" y="1818278"/>
                    </a:cubicBezTo>
                    <a:lnTo>
                      <a:pt x="0" y="1967650"/>
                    </a:lnTo>
                    <a:lnTo>
                      <a:pt x="0" y="925384"/>
                    </a:lnTo>
                    <a:lnTo>
                      <a:pt x="189084" y="753533"/>
                    </a:lnTo>
                    <a:cubicBezTo>
                      <a:pt x="759499" y="282785"/>
                      <a:pt x="1490783" y="0"/>
                      <a:pt x="228811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25882"/>
                    </a:srgbClr>
                  </a:gs>
                  <a:gs pos="72000">
                    <a:srgbClr val="377FF8">
                      <a:alpha val="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" y="755649"/>
                <a:ext cx="4961467" cy="5346702"/>
              </a:xfrm>
              <a:custGeom>
                <a:avLst/>
                <a:gdLst/>
                <a:ahLst/>
                <a:cxnLst/>
                <a:rect l="l" t="t" r="r" b="b"/>
                <a:pathLst>
                  <a:path w="4961467" h="5346702">
                    <a:moveTo>
                      <a:pt x="2288116" y="526543"/>
                    </a:moveTo>
                    <a:cubicBezTo>
                      <a:pt x="1102467" y="526543"/>
                      <a:pt x="141308" y="1487702"/>
                      <a:pt x="141308" y="2673351"/>
                    </a:cubicBezTo>
                    <a:cubicBezTo>
                      <a:pt x="141308" y="3859000"/>
                      <a:pt x="1102467" y="4820159"/>
                      <a:pt x="2288116" y="4820159"/>
                    </a:cubicBezTo>
                    <a:cubicBezTo>
                      <a:pt x="3473765" y="4820159"/>
                      <a:pt x="4434924" y="3859000"/>
                      <a:pt x="4434924" y="2673351"/>
                    </a:cubicBezTo>
                    <a:cubicBezTo>
                      <a:pt x="4434924" y="1487702"/>
                      <a:pt x="3473765" y="526543"/>
                      <a:pt x="2288116" y="526543"/>
                    </a:cubicBezTo>
                    <a:close/>
                    <a:moveTo>
                      <a:pt x="2288116" y="0"/>
                    </a:moveTo>
                    <a:cubicBezTo>
                      <a:pt x="3764567" y="0"/>
                      <a:pt x="4961467" y="1196900"/>
                      <a:pt x="4961467" y="2673351"/>
                    </a:cubicBezTo>
                    <a:cubicBezTo>
                      <a:pt x="4961467" y="4149802"/>
                      <a:pt x="3764567" y="5346702"/>
                      <a:pt x="2288116" y="5346702"/>
                    </a:cubicBezTo>
                    <a:cubicBezTo>
                      <a:pt x="1365334" y="5346702"/>
                      <a:pt x="551752" y="4879163"/>
                      <a:pt x="71332" y="4168047"/>
                    </a:cubicBezTo>
                    <a:lnTo>
                      <a:pt x="0" y="4050632"/>
                    </a:lnTo>
                    <a:lnTo>
                      <a:pt x="0" y="1296070"/>
                    </a:lnTo>
                    <a:lnTo>
                      <a:pt x="71332" y="1178655"/>
                    </a:lnTo>
                    <a:cubicBezTo>
                      <a:pt x="551752" y="467539"/>
                      <a:pt x="1365334" y="0"/>
                      <a:pt x="228811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4509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377FF8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196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944226" y="1"/>
              <a:ext cx="1247775" cy="1247775"/>
            </a:xfrm>
            <a:custGeom>
              <a:avLst/>
              <a:gdLst/>
              <a:ahLst/>
              <a:cxnLst/>
              <a:rect l="l" t="t" r="r" b="b"/>
              <a:pathLst>
                <a:path w="1247775" h="1247775">
                  <a:moveTo>
                    <a:pt x="0" y="0"/>
                  </a:moveTo>
                  <a:lnTo>
                    <a:pt x="623888" y="0"/>
                  </a:lnTo>
                  <a:cubicBezTo>
                    <a:pt x="623888" y="301494"/>
                    <a:pt x="837745" y="553038"/>
                    <a:pt x="1122041" y="611213"/>
                  </a:cubicBezTo>
                  <a:lnTo>
                    <a:pt x="1247775" y="623888"/>
                  </a:lnTo>
                  <a:lnTo>
                    <a:pt x="1247775" y="1247775"/>
                  </a:lnTo>
                  <a:cubicBezTo>
                    <a:pt x="558648" y="1247775"/>
                    <a:pt x="0" y="68912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741680" y="1075689"/>
              <a:ext cx="10777220" cy="18000"/>
            </a:xfrm>
            <a:prstGeom prst="rect">
              <a:avLst/>
            </a:pr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377FF8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196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944226" y="1"/>
              <a:ext cx="1247775" cy="1247775"/>
            </a:xfrm>
            <a:custGeom>
              <a:avLst/>
              <a:gdLst/>
              <a:ahLst/>
              <a:cxnLst/>
              <a:rect l="l" t="t" r="r" b="b"/>
              <a:pathLst>
                <a:path w="1247775" h="1247775">
                  <a:moveTo>
                    <a:pt x="0" y="0"/>
                  </a:moveTo>
                  <a:lnTo>
                    <a:pt x="623888" y="0"/>
                  </a:lnTo>
                  <a:cubicBezTo>
                    <a:pt x="623888" y="301494"/>
                    <a:pt x="837745" y="553038"/>
                    <a:pt x="1122041" y="611213"/>
                  </a:cubicBezTo>
                  <a:lnTo>
                    <a:pt x="1247775" y="623888"/>
                  </a:lnTo>
                  <a:lnTo>
                    <a:pt x="1247775" y="1247775"/>
                  </a:lnTo>
                  <a:cubicBezTo>
                    <a:pt x="558648" y="1247775"/>
                    <a:pt x="0" y="68912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741680" y="1075689"/>
              <a:ext cx="10777220" cy="18000"/>
            </a:xfrm>
            <a:prstGeom prst="rect">
              <a:avLst/>
            </a:pr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377FF8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-12700" y="0"/>
            <a:ext cx="12204700" cy="6858000"/>
          </a:xfrm>
          <a:prstGeom prst="rect">
            <a:avLst/>
          </a:prstGeom>
          <a:gradFill>
            <a:gsLst>
              <a:gs pos="0">
                <a:srgbClr val="E0E2EF">
                  <a:alpha val="81960"/>
                </a:srgbClr>
              </a:gs>
              <a:gs pos="68000">
                <a:srgbClr val="FFFFFF">
                  <a:alpha val="0"/>
                </a:srgbClr>
              </a:gs>
            </a:gsLst>
            <a:lin ang="16200000"/>
          </a:grad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517737" y="0"/>
            <a:ext cx="11143826" cy="6858000"/>
          </a:xfrm>
          <a:custGeom>
            <a:avLst/>
            <a:gdLst/>
            <a:ahLst/>
            <a:cxnLst/>
            <a:rect l="l" t="t" r="r" b="b"/>
            <a:pathLst>
              <a:path w="11143826" h="6858000">
                <a:moveTo>
                  <a:pt x="7486279" y="0"/>
                </a:moveTo>
                <a:lnTo>
                  <a:pt x="9067379" y="0"/>
                </a:lnTo>
                <a:lnTo>
                  <a:pt x="9116167" y="38340"/>
                </a:lnTo>
                <a:cubicBezTo>
                  <a:pt x="10354510" y="1060311"/>
                  <a:pt x="11143826" y="2606928"/>
                  <a:pt x="11143826" y="4337899"/>
                </a:cubicBezTo>
                <a:cubicBezTo>
                  <a:pt x="11143826" y="5203385"/>
                  <a:pt x="10946497" y="6022782"/>
                  <a:pt x="10594375" y="6753554"/>
                </a:cubicBezTo>
                <a:lnTo>
                  <a:pt x="10540881" y="6858000"/>
                </a:lnTo>
                <a:lnTo>
                  <a:pt x="9587671" y="6858000"/>
                </a:lnTo>
                <a:lnTo>
                  <a:pt x="9627044" y="6796584"/>
                </a:lnTo>
                <a:cubicBezTo>
                  <a:pt x="10062652" y="6079671"/>
                  <a:pt x="10313500" y="5238079"/>
                  <a:pt x="10313500" y="4337899"/>
                </a:cubicBezTo>
                <a:cubicBezTo>
                  <a:pt x="10313500" y="2455704"/>
                  <a:pt x="9216816" y="829653"/>
                  <a:pt x="7627587" y="63884"/>
                </a:cubicBezTo>
                <a:close/>
                <a:moveTo>
                  <a:pt x="2076447" y="0"/>
                </a:moveTo>
                <a:lnTo>
                  <a:pt x="3657547" y="0"/>
                </a:lnTo>
                <a:lnTo>
                  <a:pt x="3516239" y="63884"/>
                </a:lnTo>
                <a:cubicBezTo>
                  <a:pt x="1927010" y="829653"/>
                  <a:pt x="830326" y="2455704"/>
                  <a:pt x="830326" y="4337899"/>
                </a:cubicBezTo>
                <a:cubicBezTo>
                  <a:pt x="830326" y="5238079"/>
                  <a:pt x="1081175" y="6079671"/>
                  <a:pt x="1516782" y="6796584"/>
                </a:cubicBezTo>
                <a:lnTo>
                  <a:pt x="1556155" y="6858000"/>
                </a:lnTo>
                <a:lnTo>
                  <a:pt x="602945" y="6858000"/>
                </a:lnTo>
                <a:lnTo>
                  <a:pt x="549451" y="6753554"/>
                </a:lnTo>
                <a:cubicBezTo>
                  <a:pt x="197329" y="6022782"/>
                  <a:pt x="0" y="5203385"/>
                  <a:pt x="0" y="4337899"/>
                </a:cubicBezTo>
                <a:cubicBezTo>
                  <a:pt x="0" y="2606928"/>
                  <a:pt x="789317" y="1060311"/>
                  <a:pt x="2027659" y="38340"/>
                </a:cubicBezTo>
                <a:close/>
              </a:path>
            </a:pathLst>
          </a:custGeom>
          <a:gradFill>
            <a:gsLst>
              <a:gs pos="0">
                <a:srgbClr val="377FF8">
                  <a:alpha val="2196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330113" y="0"/>
            <a:ext cx="9531774" cy="6858000"/>
          </a:xfrm>
          <a:custGeom>
            <a:avLst/>
            <a:gdLst/>
            <a:ahLst/>
            <a:cxnLst/>
            <a:rect l="l" t="t" r="r" b="b"/>
            <a:pathLst>
              <a:path w="9531774" h="6858000">
                <a:moveTo>
                  <a:pt x="2840283" y="0"/>
                </a:moveTo>
                <a:lnTo>
                  <a:pt x="6691492" y="0"/>
                </a:lnTo>
                <a:lnTo>
                  <a:pt x="6832097" y="63566"/>
                </a:lnTo>
                <a:cubicBezTo>
                  <a:pt x="8429470" y="833260"/>
                  <a:pt x="9531774" y="2467644"/>
                  <a:pt x="9531774" y="4359485"/>
                </a:cubicBezTo>
                <a:cubicBezTo>
                  <a:pt x="9531774" y="5182025"/>
                  <a:pt x="9323399" y="5955896"/>
                  <a:pt x="8956557" y="6631190"/>
                </a:cubicBezTo>
                <a:lnTo>
                  <a:pt x="8818767" y="6858000"/>
                </a:lnTo>
                <a:lnTo>
                  <a:pt x="7956216" y="6858000"/>
                </a:lnTo>
                <a:lnTo>
                  <a:pt x="8128916" y="6627052"/>
                </a:lnTo>
                <a:cubicBezTo>
                  <a:pt x="8566217" y="5979762"/>
                  <a:pt x="8821562" y="5199443"/>
                  <a:pt x="8821562" y="4359485"/>
                </a:cubicBezTo>
                <a:cubicBezTo>
                  <a:pt x="8821562" y="2119598"/>
                  <a:pt x="7005774" y="303810"/>
                  <a:pt x="4765887" y="303810"/>
                </a:cubicBezTo>
                <a:cubicBezTo>
                  <a:pt x="2526000" y="303810"/>
                  <a:pt x="710212" y="2119598"/>
                  <a:pt x="710212" y="4359485"/>
                </a:cubicBezTo>
                <a:cubicBezTo>
                  <a:pt x="710212" y="5199443"/>
                  <a:pt x="965557" y="5979762"/>
                  <a:pt x="1402858" y="6627052"/>
                </a:cubicBezTo>
                <a:lnTo>
                  <a:pt x="1575558" y="6858000"/>
                </a:lnTo>
                <a:lnTo>
                  <a:pt x="713008" y="6858000"/>
                </a:lnTo>
                <a:lnTo>
                  <a:pt x="575217" y="6631190"/>
                </a:lnTo>
                <a:cubicBezTo>
                  <a:pt x="208375" y="5955896"/>
                  <a:pt x="0" y="5182025"/>
                  <a:pt x="0" y="4359485"/>
                </a:cubicBezTo>
                <a:cubicBezTo>
                  <a:pt x="0" y="2467644"/>
                  <a:pt x="1102304" y="833260"/>
                  <a:pt x="2699678" y="6356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27058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377FF8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196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944226" y="1"/>
              <a:ext cx="1247775" cy="1247775"/>
            </a:xfrm>
            <a:custGeom>
              <a:avLst/>
              <a:gdLst/>
              <a:ahLst/>
              <a:cxnLst/>
              <a:rect l="l" t="t" r="r" b="b"/>
              <a:pathLst>
                <a:path w="1247775" h="1247775">
                  <a:moveTo>
                    <a:pt x="0" y="0"/>
                  </a:moveTo>
                  <a:lnTo>
                    <a:pt x="623888" y="0"/>
                  </a:lnTo>
                  <a:cubicBezTo>
                    <a:pt x="623888" y="301494"/>
                    <a:pt x="837745" y="553038"/>
                    <a:pt x="1122041" y="611213"/>
                  </a:cubicBezTo>
                  <a:lnTo>
                    <a:pt x="1247775" y="623888"/>
                  </a:lnTo>
                  <a:lnTo>
                    <a:pt x="1247775" y="1247775"/>
                  </a:lnTo>
                  <a:cubicBezTo>
                    <a:pt x="558648" y="1247775"/>
                    <a:pt x="0" y="68912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741680" y="1075689"/>
              <a:ext cx="10777220" cy="18000"/>
            </a:xfrm>
            <a:prstGeom prst="rect">
              <a:avLst/>
            </a:pr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377FF8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377FF8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196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377FF8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1"/>
            <a:chOff x="0" y="0"/>
            <a:chExt cx="12192001" cy="6858001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blipFill rotWithShape="1">
                <a:blip r:embed="rId2">
                  <a:alphaModFix amt="100000"/>
                  <a:alphaModFix amt="100000"/>
                </a:blip>
                <a:stretch>
                  <a:fillRect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FFFFF">
                  <a:alpha val="90196"/>
                  <a:lumMod val="9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10944226" y="1"/>
              <a:ext cx="1247775" cy="1247775"/>
            </a:xfrm>
            <a:custGeom>
              <a:avLst/>
              <a:gdLst/>
              <a:ahLst/>
              <a:cxnLst/>
              <a:rect l="l" t="t" r="r" b="b"/>
              <a:pathLst>
                <a:path w="1247775" h="1247775">
                  <a:moveTo>
                    <a:pt x="0" y="0"/>
                  </a:moveTo>
                  <a:lnTo>
                    <a:pt x="623888" y="0"/>
                  </a:lnTo>
                  <a:cubicBezTo>
                    <a:pt x="623888" y="301494"/>
                    <a:pt x="837745" y="553038"/>
                    <a:pt x="1122041" y="611213"/>
                  </a:cubicBezTo>
                  <a:lnTo>
                    <a:pt x="1247775" y="623888"/>
                  </a:lnTo>
                  <a:lnTo>
                    <a:pt x="1247775" y="1247775"/>
                  </a:lnTo>
                  <a:cubicBezTo>
                    <a:pt x="558648" y="1247775"/>
                    <a:pt x="0" y="68912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" y="5145958"/>
              <a:ext cx="1759817" cy="1712043"/>
            </a:xfrm>
            <a:custGeom>
              <a:avLst/>
              <a:gdLst/>
              <a:ahLst/>
              <a:cxnLst/>
              <a:rect l="l" t="t" r="r" b="b"/>
              <a:pathLst>
                <a:path w="1759817" h="1712043">
                  <a:moveTo>
                    <a:pt x="0" y="0"/>
                  </a:moveTo>
                  <a:lnTo>
                    <a:pt x="190517" y="48987"/>
                  </a:lnTo>
                  <a:cubicBezTo>
                    <a:pt x="922238" y="276576"/>
                    <a:pt x="1499777" y="854115"/>
                    <a:pt x="1727366" y="1585836"/>
                  </a:cubicBezTo>
                  <a:lnTo>
                    <a:pt x="1759817" y="1712043"/>
                  </a:lnTo>
                  <a:lnTo>
                    <a:pt x="1207429" y="1712043"/>
                  </a:lnTo>
                  <a:lnTo>
                    <a:pt x="1158469" y="1578273"/>
                  </a:lnTo>
                  <a:cubicBezTo>
                    <a:pt x="952997" y="1092482"/>
                    <a:pt x="540860" y="715386"/>
                    <a:pt x="32276" y="557199"/>
                  </a:cubicBezTo>
                  <a:lnTo>
                    <a:pt x="0" y="548900"/>
                  </a:ln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</p:grpSp>
      <p:cxnSp>
        <p:nvCxnSpPr>
          <p:cNvPr id="8" name="Connector 8"/>
          <p:cNvCxnSpPr/>
          <p:nvPr/>
        </p:nvCxnSpPr>
        <p:spPr>
          <a:xfrm>
            <a:off x="2642598" y="3023118"/>
            <a:ext cx="0" cy="3110982"/>
          </a:xfrm>
          <a:prstGeom prst="line">
            <a:avLst/>
          </a:prstGeom>
          <a:ln w="3175">
            <a:solidFill>
              <a:srgbClr val="778495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9" name="AutoShape 9"/>
          <p:cNvSpPr/>
          <p:nvPr/>
        </p:nvSpPr>
        <p:spPr>
          <a:xfrm>
            <a:off x="1397171" y="5089886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196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944226" y="1"/>
              <a:ext cx="1247775" cy="1247775"/>
            </a:xfrm>
            <a:custGeom>
              <a:avLst/>
              <a:gdLst/>
              <a:ahLst/>
              <a:cxnLst/>
              <a:rect l="l" t="t" r="r" b="b"/>
              <a:pathLst>
                <a:path w="1247775" h="1247775">
                  <a:moveTo>
                    <a:pt x="0" y="0"/>
                  </a:moveTo>
                  <a:lnTo>
                    <a:pt x="623888" y="0"/>
                  </a:lnTo>
                  <a:cubicBezTo>
                    <a:pt x="623888" y="301494"/>
                    <a:pt x="837745" y="553038"/>
                    <a:pt x="1122041" y="611213"/>
                  </a:cubicBezTo>
                  <a:lnTo>
                    <a:pt x="1247775" y="623888"/>
                  </a:lnTo>
                  <a:lnTo>
                    <a:pt x="1247775" y="1247775"/>
                  </a:lnTo>
                  <a:cubicBezTo>
                    <a:pt x="558648" y="1247775"/>
                    <a:pt x="0" y="68912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741680" y="1075689"/>
              <a:ext cx="10777220" cy="18000"/>
            </a:xfrm>
            <a:prstGeom prst="rect">
              <a:avLst/>
            </a:prstGeom>
            <a:gradFill>
              <a:gsLst>
                <a:gs pos="0">
                  <a:srgbClr val="377FF8">
                    <a:alpha val="100000"/>
                  </a:srgbClr>
                </a:gs>
                <a:gs pos="100000">
                  <a:srgbClr val="377FF8">
                    <a:alpha val="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7" name="Group 7"/>
          <p:cNvGrpSpPr/>
          <p:nvPr/>
        </p:nvGrpSpPr>
        <p:grpSpPr>
          <a:xfrm rot="0">
            <a:off x="-12700" y="0"/>
            <a:ext cx="12192002" cy="6858001"/>
            <a:chOff x="-12700" y="0"/>
            <a:chExt cx="12192002" cy="6858001"/>
          </a:xfrm>
        </p:grpSpPr>
        <p:sp>
          <p:nvSpPr>
            <p:cNvPr id="8" name="AutoShape 8"/>
            <p:cNvSpPr/>
            <p:nvPr/>
          </p:nvSpPr>
          <p:spPr>
            <a:xfrm>
              <a:off x="1" y="1"/>
              <a:ext cx="12192000" cy="6858000"/>
            </a:xfrm>
            <a:prstGeom prst="rect">
              <a:avLst/>
            </a:prstGeom>
            <a:blipFill rotWithShape="1">
              <a:blip r:embed="rId3">
                <a:alphaModFix amt="100000"/>
                <a:alphaModFix amt="100000"/>
              </a:blip>
              <a:stretch>
                <a:fillRect l="-1820" t="-10556" r="-23457" b="-14721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-12700" y="0"/>
              <a:ext cx="12191999" cy="6858000"/>
            </a:xfrm>
            <a:prstGeom prst="rect">
              <a:avLst/>
            </a:prstGeom>
            <a:gradFill>
              <a:gsLst>
                <a:gs pos="56000">
                  <a:srgbClr val="E0E2EF">
                    <a:alpha val="7294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1" y="129117"/>
              <a:ext cx="5587999" cy="6599766"/>
              <a:chOff x="1" y="129117"/>
              <a:chExt cx="5587999" cy="659976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" y="129117"/>
                <a:ext cx="5587999" cy="6599766"/>
              </a:xfrm>
              <a:custGeom>
                <a:avLst/>
                <a:gdLst/>
                <a:ahLst/>
                <a:cxnLst/>
                <a:rect l="l" t="t" r="r" b="b"/>
                <a:pathLst>
                  <a:path w="5587999" h="6599766">
                    <a:moveTo>
                      <a:pt x="2288116" y="0"/>
                    </a:moveTo>
                    <a:cubicBezTo>
                      <a:pt x="4110591" y="0"/>
                      <a:pt x="5587999" y="1477408"/>
                      <a:pt x="5587999" y="3299883"/>
                    </a:cubicBezTo>
                    <a:cubicBezTo>
                      <a:pt x="5587999" y="5122358"/>
                      <a:pt x="4110591" y="6599766"/>
                      <a:pt x="2288116" y="6599766"/>
                    </a:cubicBezTo>
                    <a:cubicBezTo>
                      <a:pt x="1490783" y="6599766"/>
                      <a:pt x="759499" y="6316981"/>
                      <a:pt x="189084" y="5846233"/>
                    </a:cubicBezTo>
                    <a:lnTo>
                      <a:pt x="0" y="5674382"/>
                    </a:lnTo>
                    <a:lnTo>
                      <a:pt x="0" y="4632116"/>
                    </a:lnTo>
                    <a:lnTo>
                      <a:pt x="90746" y="4781489"/>
                    </a:lnTo>
                    <a:cubicBezTo>
                      <a:pt x="566959" y="5486377"/>
                      <a:pt x="1373416" y="5949821"/>
                      <a:pt x="2288116" y="5949821"/>
                    </a:cubicBezTo>
                    <a:cubicBezTo>
                      <a:pt x="3751636" y="5949821"/>
                      <a:pt x="4938054" y="4763403"/>
                      <a:pt x="4938054" y="3299883"/>
                    </a:cubicBezTo>
                    <a:cubicBezTo>
                      <a:pt x="4938054" y="1836363"/>
                      <a:pt x="3751636" y="649945"/>
                      <a:pt x="2288116" y="649945"/>
                    </a:cubicBezTo>
                    <a:cubicBezTo>
                      <a:pt x="1373416" y="649945"/>
                      <a:pt x="566959" y="1113390"/>
                      <a:pt x="90746" y="1818278"/>
                    </a:cubicBezTo>
                    <a:lnTo>
                      <a:pt x="0" y="1967650"/>
                    </a:lnTo>
                    <a:lnTo>
                      <a:pt x="0" y="925384"/>
                    </a:lnTo>
                    <a:lnTo>
                      <a:pt x="189084" y="753533"/>
                    </a:lnTo>
                    <a:cubicBezTo>
                      <a:pt x="759499" y="282785"/>
                      <a:pt x="1490783" y="0"/>
                      <a:pt x="228811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25882"/>
                    </a:srgbClr>
                  </a:gs>
                  <a:gs pos="72000">
                    <a:srgbClr val="377FF8">
                      <a:alpha val="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" y="755649"/>
                <a:ext cx="4961467" cy="5346702"/>
              </a:xfrm>
              <a:custGeom>
                <a:avLst/>
                <a:gdLst/>
                <a:ahLst/>
                <a:cxnLst/>
                <a:rect l="l" t="t" r="r" b="b"/>
                <a:pathLst>
                  <a:path w="4961467" h="5346702">
                    <a:moveTo>
                      <a:pt x="2288116" y="526543"/>
                    </a:moveTo>
                    <a:cubicBezTo>
                      <a:pt x="1102467" y="526543"/>
                      <a:pt x="141308" y="1487702"/>
                      <a:pt x="141308" y="2673351"/>
                    </a:cubicBezTo>
                    <a:cubicBezTo>
                      <a:pt x="141308" y="3859000"/>
                      <a:pt x="1102467" y="4820159"/>
                      <a:pt x="2288116" y="4820159"/>
                    </a:cubicBezTo>
                    <a:cubicBezTo>
                      <a:pt x="3473765" y="4820159"/>
                      <a:pt x="4434924" y="3859000"/>
                      <a:pt x="4434924" y="2673351"/>
                    </a:cubicBezTo>
                    <a:cubicBezTo>
                      <a:pt x="4434924" y="1487702"/>
                      <a:pt x="3473765" y="526543"/>
                      <a:pt x="2288116" y="526543"/>
                    </a:cubicBezTo>
                    <a:close/>
                    <a:moveTo>
                      <a:pt x="2288116" y="0"/>
                    </a:moveTo>
                    <a:cubicBezTo>
                      <a:pt x="3764567" y="0"/>
                      <a:pt x="4961467" y="1196900"/>
                      <a:pt x="4961467" y="2673351"/>
                    </a:cubicBezTo>
                    <a:cubicBezTo>
                      <a:pt x="4961467" y="4149802"/>
                      <a:pt x="3764567" y="5346702"/>
                      <a:pt x="2288116" y="5346702"/>
                    </a:cubicBezTo>
                    <a:cubicBezTo>
                      <a:pt x="1365334" y="5346702"/>
                      <a:pt x="551752" y="4879163"/>
                      <a:pt x="71332" y="4168047"/>
                    </a:cubicBezTo>
                    <a:lnTo>
                      <a:pt x="0" y="4050632"/>
                    </a:lnTo>
                    <a:lnTo>
                      <a:pt x="0" y="1296070"/>
                    </a:lnTo>
                    <a:lnTo>
                      <a:pt x="71332" y="1178655"/>
                    </a:lnTo>
                    <a:cubicBezTo>
                      <a:pt x="551752" y="467539"/>
                      <a:pt x="1365334" y="0"/>
                      <a:pt x="228811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4509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6724650" cy="27622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为何用Markdown喂AI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4222923"/>
            <a:ext cx="6083300" cy="466550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掌握AI编程的“官方”交流格式，提升效率与效果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dbd2d81-2a2d-4423-b8bb-a9c89a6755b4"/>
          <p:cNvGrpSpPr/>
          <p:nvPr/>
        </p:nvGrpSpPr>
        <p:grpSpPr>
          <a:xfrm rot="0">
            <a:off x="2" y="1130300"/>
            <a:ext cx="11518898" cy="5727700"/>
            <a:chOff x="2" y="1130300"/>
            <a:chExt cx="11518898" cy="5727700"/>
          </a:xfrm>
        </p:grpSpPr>
        <p:sp>
          <p:nvSpPr>
            <p:cNvPr id="3" name="AutoShape 3"/>
            <p:cNvSpPr/>
            <p:nvPr/>
          </p:nvSpPr>
          <p:spPr>
            <a:xfrm>
              <a:off x="2" y="1130300"/>
              <a:ext cx="4114800" cy="5727700"/>
            </a:xfrm>
            <a:prstGeom prst="rect">
              <a:avLst/>
            </a:prstGeom>
            <a:solidFill>
              <a:srgbClr val="377FF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5461361" y="2637265"/>
              <a:ext cx="6057539" cy="540750"/>
              <a:chOff x="5901815" y="2530783"/>
              <a:chExt cx="10845798" cy="54075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5984170" y="3071533"/>
                <a:ext cx="10649143" cy="0"/>
              </a:xfrm>
              <a:prstGeom prst="straightConnector1">
                <a:avLst/>
              </a:prstGeom>
              <a:ln w="15875">
                <a:solidFill>
                  <a:srgbClr val="377FF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5901815" y="2656741"/>
                <a:ext cx="9194956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为何用Markdown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096771" y="2530783"/>
                <a:ext cx="1650842" cy="52322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5461361" y="4086385"/>
              <a:ext cx="6057539" cy="540750"/>
              <a:chOff x="5901815" y="2530783"/>
              <a:chExt cx="10845798" cy="54075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5984170" y="3071533"/>
                <a:ext cx="10649143" cy="0"/>
              </a:xfrm>
              <a:prstGeom prst="straightConnector1">
                <a:avLst/>
              </a:prstGeom>
              <a:ln w="15875">
                <a:solidFill>
                  <a:srgbClr val="377FF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901815" y="2656741"/>
                <a:ext cx="9194956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入门AI编程第一步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096771" y="2530783"/>
                <a:ext cx="1650842" cy="52322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H="1">
              <a:off x="192164" y="2335284"/>
              <a:ext cx="5077036" cy="4522716"/>
            </a:xfrm>
            <a:prstGeom prst="rect">
              <a:avLst/>
            </a:prstGeom>
            <a:blipFill rotWithShape="1">
              <a:blip r:embed="rId1">
                <a:alphaModFix amt="100000"/>
                <a:alphaModFix amt="100000"/>
              </a:blip>
              <a:stretch>
                <a:fillRect t="16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660402" y="1245992"/>
              <a:ext cx="2823010" cy="107230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2158999"/>
            <a:ext cx="10858500" cy="140546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为何用Markdown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640667"/>
            <a:ext cx="10858500" cy="10351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了解AI编程的“官方”格式，是提升效率与效果的关键一步。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5aadc93-0cf5-4150-9673-0b729d906e9d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4800600"/>
            <a:chOff x="660400" y="1130300"/>
            <a:chExt cx="10858500" cy="48006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Markdown是专为AI交互优化的纯文本格式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753908" y="2022324"/>
              <a:ext cx="10701492" cy="1139702"/>
              <a:chOff x="753908" y="2022324"/>
              <a:chExt cx="10701492" cy="1139702"/>
            </a:xfrm>
          </p:grpSpPr>
          <p:sp>
            <p:nvSpPr>
              <p:cNvPr id="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1252013" y="2022327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 rot="16200000">
                <a:off x="433111" y="234312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377FF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54796" y="2074878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何为Markdown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75365" y="2074878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Markdown是一种轻量级的「标记语言」，使用简单的符号（如`#`, `*`, `-`）来定义文本格式（如标题、列表、粗体），而非Word那样的复杂二进制格式。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753907" y="3406764"/>
              <a:ext cx="10695526" cy="1139700"/>
              <a:chOff x="753907" y="3406764"/>
              <a:chExt cx="10695526" cy="1139700"/>
            </a:xfrm>
          </p:grpSpPr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1246046" y="3406764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348829" y="3469640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AI的“Office”软件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369398" y="3469640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就像我们用Office处理日常文档，AI在处理技术文档、代码笔记时，Markdown已成为行业标准，便于其理解和处理。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 rot="16200000">
                <a:off x="433110" y="372756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377FF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747734" y="4791200"/>
              <a:ext cx="10707666" cy="1139700"/>
              <a:chOff x="747734" y="4791200"/>
              <a:chExt cx="10707666" cy="1139700"/>
            </a:xfrm>
          </p:grpSpPr>
          <p:sp>
            <p:nvSpPr>
              <p:cNvPr id="15" name="AutoShap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1252013" y="4791201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348829" y="4864402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纯文本的极简主义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369398" y="4864402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Markdown文件是纯文本，不包含任何隐藏的排版信息、字体或图片，确保了内容的纯粹性，无论对人还是AI都非常友好。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 rot="16200000">
                <a:off x="426937" y="5111997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377FF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AI的专属办公格式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453afca-d7b5-42ba-9f44-0c2370755b67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377FF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116205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在AI编程工作流中，实现“开箱即用”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1" y="2649584"/>
              <a:ext cx="9937750" cy="1032790"/>
            </a:xfrm>
            <a:prstGeom prst="roundRect">
              <a:avLst>
                <a:gd name="adj" fmla="val 7607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581149" y="3875446"/>
              <a:ext cx="9937750" cy="1032790"/>
            </a:xfrm>
            <a:prstGeom prst="roundRect">
              <a:avLst>
                <a:gd name="adj" fmla="val 7607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660401" y="5101310"/>
              <a:ext cx="9937750" cy="1032790"/>
            </a:xfrm>
            <a:prstGeom prst="roundRect">
              <a:avLst>
                <a:gd name="adj" fmla="val 7607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778580" y="2649584"/>
              <a:ext cx="10753019" cy="1032788"/>
              <a:chOff x="778580" y="2649584"/>
              <a:chExt cx="10753019" cy="103278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0781593" y="2649584"/>
                <a:ext cx="750006" cy="1032788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257550" y="2760157"/>
                <a:ext cx="7213600" cy="811642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VS Code是主流代码编辑器，它原生支持Markdown。你无需任何转换，即可在开发环境中无缝查看、编辑Markdown文件。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78580" y="2760157"/>
                <a:ext cx="2286706" cy="811642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原生支持VS Code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73101" y="3875448"/>
              <a:ext cx="10718797" cy="1032788"/>
              <a:chOff x="673101" y="3875448"/>
              <a:chExt cx="10718797" cy="103278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73101" y="3875448"/>
                <a:ext cx="750006" cy="1032788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78298" y="3986019"/>
                <a:ext cx="7213600" cy="811642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几乎所有为开发者设计的AI编程助手（如Copilot、CodeWhisperer）都默认支持和优化了对Markdown的处理。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99328" y="3986019"/>
                <a:ext cx="2286706" cy="811642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AI工具链的标配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778580" y="5101310"/>
              <a:ext cx="10753019" cy="1032788"/>
              <a:chOff x="778580" y="5101310"/>
              <a:chExt cx="10753019" cy="103278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0781593" y="5101310"/>
                <a:ext cx="750006" cy="1032788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57550" y="5211883"/>
                <a:ext cx="7213600" cy="811642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你可以直接将一个`.md`文件“喂”给AI，省去了将Word、PDF等格式转换为纯文本的繁琐步骤，让工作流更流畅。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78580" y="5211883"/>
                <a:ext cx="2286706" cy="811642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无需导入导出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无缝集成与兼容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2c942a3-93e2-4429-b11f-5a4bd30dba7d"/>
          <p:cNvGrpSpPr/>
          <p:nvPr/>
        </p:nvGrpSpPr>
        <p:grpSpPr>
          <a:xfrm rot="0">
            <a:off x="660399" y="1130300"/>
            <a:ext cx="10858500" cy="5003800"/>
            <a:chOff x="660399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73099" y="1130300"/>
              <a:ext cx="10845800" cy="109855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简单的格式，带来了意想不到的效率提升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399" y="2606100"/>
              <a:ext cx="3205305" cy="3528000"/>
              <a:chOff x="660399" y="2606100"/>
              <a:chExt cx="3205305" cy="35280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606100"/>
                <a:ext cx="1" cy="3528000"/>
              </a:xfrm>
              <a:prstGeom prst="line">
                <a:avLst/>
              </a:prstGeom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87400" y="3424234"/>
                <a:ext cx="3078301" cy="1847851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Word会生成大量隐藏的格式标记和样式信息，这些对AI来说是“噪音”，可能干扰其对核心内容的理解。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399" y="2606100"/>
                <a:ext cx="3205305" cy="68400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告别Word“脏代码”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1" y="5486100"/>
                <a:ext cx="648000" cy="6480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466633" y="2606100"/>
              <a:ext cx="3230830" cy="3528000"/>
              <a:chOff x="3474324" y="2606100"/>
              <a:chExt cx="3230830" cy="3528000"/>
            </a:xfrm>
          </p:grpSpPr>
          <p:sp>
            <p:nvSpPr>
              <p:cNvPr id="10" name="AutoShape 10"/>
              <p:cNvSpPr/>
              <p:nvPr/>
            </p:nvSpPr>
            <p:spPr>
              <a:xfrm flipH="1">
                <a:off x="3474324" y="2606100"/>
                <a:ext cx="25526" cy="3528000"/>
              </a:xfrm>
              <a:prstGeom prst="line">
                <a:avLst/>
              </a:prstGeom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626850" y="3424234"/>
                <a:ext cx="3078301" cy="1847851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在不同软件间复制粘贴时，Markdown的简单标记非常稳定，而复杂格式则很容易出现错乱。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499849" y="2606100"/>
                <a:ext cx="3205305" cy="68400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避免格式错乱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74324" y="5486100"/>
                <a:ext cx="648000" cy="6480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298392" y="2604278"/>
              <a:ext cx="3205305" cy="3529822"/>
              <a:chOff x="6313773" y="2604278"/>
              <a:chExt cx="3205305" cy="3529822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313774" y="2606100"/>
                <a:ext cx="1" cy="3528000"/>
              </a:xfrm>
              <a:prstGeom prst="line">
                <a:avLst/>
              </a:prstGeom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313773" y="2604278"/>
                <a:ext cx="3205305" cy="68400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确保内容一致性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40774" y="3422412"/>
                <a:ext cx="3078301" cy="1847851"/>
              </a:xfrm>
              <a:prstGeom prst="rect">
                <a:avLst/>
              </a:prstGeom>
              <a:noFill/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Markdown保证你写下的内容，就是AI读到的内容，避免了因格式转换导致的信息丢失或变异。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13775" y="5486100"/>
                <a:ext cx="648000" cy="6480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905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干净文本的优势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4503ccc-9bf7-436a-ad3c-5fe9b55679b7"/>
          <p:cNvGrpSpPr/>
          <p:nvPr/>
        </p:nvGrpSpPr>
        <p:grpSpPr>
          <a:xfrm rot="0">
            <a:off x="674688" y="1130299"/>
            <a:ext cx="10858499" cy="5072647"/>
            <a:chOff x="674688" y="1130299"/>
            <a:chExt cx="10858499" cy="5072647"/>
          </a:xfrm>
        </p:grpSpPr>
        <p:sp>
          <p:nvSpPr>
            <p:cNvPr id="3" name="AutoShape 3"/>
            <p:cNvSpPr/>
            <p:nvPr/>
          </p:nvSpPr>
          <p:spPr>
            <a:xfrm>
              <a:off x="674688" y="1130299"/>
              <a:ext cx="10858499" cy="5072647"/>
            </a:xfrm>
            <a:prstGeom prst="roundRect">
              <a:avLst>
                <a:gd name="adj" fmla="val 6176"/>
              </a:avLst>
            </a:prstGeom>
            <a:solidFill>
              <a:srgbClr val="FFFFFF">
                <a:alpha val="100000"/>
                <a:lumMod val="9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4833" y="1290612"/>
              <a:ext cx="10189634" cy="73292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减少不必要的消耗，就是省钱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994833" y="2831146"/>
              <a:ext cx="3170767" cy="2461440"/>
              <a:chOff x="994833" y="2831146"/>
              <a:chExt cx="3170767" cy="246144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521432" y="2831146"/>
                <a:ext cx="2644168" cy="7329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什么是Token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 flipH="1">
                <a:off x="1521428" y="3564065"/>
                <a:ext cx="2644168" cy="17285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Token是AI处理文本的基本单位，API调用、上下文长度等都以Token为计量单位，直接关系到使用成本。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94833" y="3258378"/>
                <a:ext cx="466006" cy="466004"/>
              </a:xfrm>
              <a:prstGeom prst="roundRect">
                <a:avLst/>
              </a:prstGeom>
              <a:solidFill>
                <a:srgbClr val="377FF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510613" y="2831146"/>
              <a:ext cx="3170767" cy="2461440"/>
              <a:chOff x="4510613" y="2831146"/>
              <a:chExt cx="3170767" cy="246144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037212" y="2831146"/>
                <a:ext cx="2644168" cy="7329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减少无效Token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 flipH="1">
                <a:off x="5037208" y="3564065"/>
                <a:ext cx="2644168" cy="17285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复杂的文件格式（如`.docx`）包含大量描述排版的元数据，这些也会被计入Token，白白浪费额度。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510613" y="3258378"/>
                <a:ext cx="466006" cy="466004"/>
              </a:xfrm>
              <a:prstGeom prst="roundRect">
                <a:avLst/>
              </a:prstGeom>
              <a:solidFill>
                <a:srgbClr val="3383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026402" y="2831146"/>
              <a:ext cx="3170767" cy="2461440"/>
              <a:chOff x="8026402" y="2831146"/>
              <a:chExt cx="3170767" cy="246144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553001" y="2831146"/>
                <a:ext cx="2644168" cy="7329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提升有效信息密度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 flipH="1">
                <a:off x="8552997" y="3564065"/>
                <a:ext cx="2644168" cy="17285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在相同的Token预算下，Markdown的简洁性可以让你传递更多的有效信息（如代码、逻辑描述），让AI更充分地理解你的需求。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26402" y="3258378"/>
                <a:ext cx="466006" cy="466004"/>
              </a:xfrm>
              <a:prstGeom prst="roundRect">
                <a:avLst/>
              </a:prstGeom>
              <a:solidFill>
                <a:srgbClr val="377FF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节省Token大法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2158999"/>
            <a:ext cx="10858500" cy="140546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入门AI编程第一步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640667"/>
            <a:ext cx="10858500" cy="10351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从现在开始，将Markdown融入你的技术笔记和提示词中。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0d3b23c-89ff-4831-8f5a-03ac7ec669e4"/>
          <p:cNvGrpSpPr/>
          <p:nvPr/>
        </p:nvGrpSpPr>
        <p:grpSpPr>
          <a:xfrm rot="0">
            <a:off x="660400" y="1216026"/>
            <a:ext cx="10858500" cy="4918074"/>
            <a:chOff x="660400" y="1216026"/>
            <a:chExt cx="10858500" cy="4918074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216026"/>
              <a:ext cx="10858500" cy="73109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从简单的语法开始，立刻上手实践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095018"/>
              <a:ext cx="1728540" cy="4039082"/>
              <a:chOff x="660400" y="2946400"/>
              <a:chExt cx="2160000" cy="31877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946400"/>
                <a:ext cx="2160000" cy="3187700"/>
              </a:xfrm>
              <a:prstGeom prst="roundRect">
                <a:avLst>
                  <a:gd name="adj" fmla="val 5063"/>
                </a:avLst>
              </a:prstGeom>
              <a:solidFill>
                <a:srgbClr val="377FF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 rot="0">
                <a:off x="768187" y="3999198"/>
                <a:ext cx="1944426" cy="2026646"/>
                <a:chOff x="947371" y="1865293"/>
                <a:chExt cx="3215781" cy="2026646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947371" y="1865293"/>
                  <a:ext cx="3215781" cy="7709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标题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47371" y="2636286"/>
                  <a:ext cx="3215779" cy="125565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Aft>
                      <a:spcPts val="600"/>
                    </a:spcAft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 `#` 号定义标题级别，如 `# 一级标题`, `## 二级标题`。</a:t>
                  </a:r>
                  <a:endParaRPr lang="en-US" sz="1100"/>
                </a:p>
              </p:txBody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768187" y="3059330"/>
                <a:ext cx="1944425" cy="8840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44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486392" y="2095018"/>
              <a:ext cx="1728540" cy="4039082"/>
              <a:chOff x="660400" y="2946400"/>
              <a:chExt cx="2160000" cy="31877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400" y="2946400"/>
                <a:ext cx="2160000" cy="3187700"/>
              </a:xfrm>
              <a:prstGeom prst="roundRect">
                <a:avLst>
                  <a:gd name="adj" fmla="val 5063"/>
                </a:avLst>
              </a:prstGeom>
              <a:solidFill>
                <a:srgbClr val="3383E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 rot="0">
                <a:off x="768187" y="3999198"/>
                <a:ext cx="1944426" cy="2026646"/>
                <a:chOff x="947371" y="1865293"/>
                <a:chExt cx="3215781" cy="2026646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947371" y="1865293"/>
                  <a:ext cx="3215781" cy="7709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列表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47371" y="2636286"/>
                  <a:ext cx="3215779" cy="125565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Aft>
                      <a:spcPts val="600"/>
                    </a:spcAft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 `-` 或 `*` 号创建无序列表，使用 `1.` `2.` 创建有序列表。</a:t>
                  </a:r>
                  <a:endParaRPr lang="en-US" sz="1100"/>
                </a:p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68187" y="3059330"/>
                <a:ext cx="1944425" cy="8840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44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4312383" y="2095018"/>
              <a:ext cx="1728540" cy="4039082"/>
              <a:chOff x="660400" y="2946400"/>
              <a:chExt cx="2160000" cy="318770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60400" y="2946400"/>
                <a:ext cx="2160000" cy="3187700"/>
              </a:xfrm>
              <a:prstGeom prst="roundRect">
                <a:avLst>
                  <a:gd name="adj" fmla="val 5063"/>
                </a:avLst>
              </a:prstGeom>
              <a:solidFill>
                <a:srgbClr val="377FF8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 rot="0">
                <a:off x="768187" y="3999198"/>
                <a:ext cx="1944426" cy="2026646"/>
                <a:chOff x="947371" y="1865293"/>
                <a:chExt cx="3215781" cy="2026646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947371" y="1865293"/>
                  <a:ext cx="3215781" cy="7709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强调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47371" y="2636286"/>
                  <a:ext cx="3215779" cy="125565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Aft>
                      <a:spcPts val="600"/>
                    </a:spcAft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 `**加粗**` 或 `*斜体*` 来突出重点。</a:t>
                  </a:r>
                  <a:endParaRPr lang="en-US" sz="1100"/>
                </a:p>
              </p:txBody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768187" y="3059330"/>
                <a:ext cx="1944425" cy="8840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44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6138375" y="2095018"/>
              <a:ext cx="1728540" cy="4039082"/>
              <a:chOff x="660400" y="2946400"/>
              <a:chExt cx="2160000" cy="3187700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660400" y="2946400"/>
                <a:ext cx="2160000" cy="3187700"/>
              </a:xfrm>
              <a:prstGeom prst="roundRect">
                <a:avLst>
                  <a:gd name="adj" fmla="val 5063"/>
                </a:avLst>
              </a:prstGeom>
              <a:solidFill>
                <a:srgbClr val="2F2F2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 rot="0">
                <a:off x="768186" y="3999198"/>
                <a:ext cx="1944426" cy="2026646"/>
                <a:chOff x="947369" y="1865293"/>
                <a:chExt cx="3215781" cy="2026646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7369" y="1865293"/>
                  <a:ext cx="3215779" cy="7709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代码块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47369" y="2636286"/>
                  <a:ext cx="3215781" cy="125565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Aft>
                      <a:spcPts val="600"/>
                    </a:spcAft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使用三个反引号 ``` 包裹代码，可指定语言类型，如 ```python。</a:t>
                  </a:r>
                  <a:endParaRPr lang="en-US" sz="1100"/>
                </a:p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68186" y="3059330"/>
                <a:ext cx="1944425" cy="8840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44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04.</a:t>
                </a:r>
                <a:endParaRPr lang="en-US" sz="11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7964367" y="2095018"/>
              <a:ext cx="1728540" cy="4039082"/>
              <a:chOff x="660400" y="2946400"/>
              <a:chExt cx="2160000" cy="3187700"/>
            </a:xfrm>
          </p:grpSpPr>
          <p:sp>
            <p:nvSpPr>
              <p:cNvPr id="29" name="AutoShape 29"/>
              <p:cNvSpPr/>
              <p:nvPr/>
            </p:nvSpPr>
            <p:spPr>
              <a:xfrm>
                <a:off x="660400" y="2946400"/>
                <a:ext cx="2160000" cy="3187700"/>
              </a:xfrm>
              <a:prstGeom prst="roundRect">
                <a:avLst>
                  <a:gd name="adj" fmla="val 5063"/>
                </a:avLst>
              </a:prstGeom>
              <a:solidFill>
                <a:srgbClr val="2F2F2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 rot="0">
                <a:off x="768187" y="3999198"/>
                <a:ext cx="1944426" cy="2026646"/>
                <a:chOff x="947371" y="1865293"/>
                <a:chExt cx="3215781" cy="2026646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947371" y="1865293"/>
                  <a:ext cx="3215781" cy="7709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链接与图片</a:t>
                  </a:r>
                  <a:endParaRPr lang="en-US" sz="1100"/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47371" y="2636286"/>
                  <a:ext cx="3215779" cy="125565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Aft>
                      <a:spcPts val="600"/>
                    </a:spcAft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链接：`[描述](链接地址)`，图片：`![替代文本](图片链接)`。</a:t>
                  </a:r>
                  <a:endParaRPr lang="en-US" sz="1100"/>
                </a:p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768187" y="3059330"/>
                <a:ext cx="1944425" cy="8840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44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05.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9790360" y="2095018"/>
              <a:ext cx="1728540" cy="4039082"/>
              <a:chOff x="660400" y="2946400"/>
              <a:chExt cx="2160000" cy="3187700"/>
            </a:xfrm>
          </p:grpSpPr>
          <p:sp>
            <p:nvSpPr>
              <p:cNvPr id="35" name="AutoShape 35"/>
              <p:cNvSpPr/>
              <p:nvPr/>
            </p:nvSpPr>
            <p:spPr>
              <a:xfrm>
                <a:off x="660400" y="2946400"/>
                <a:ext cx="2160000" cy="3187700"/>
              </a:xfrm>
              <a:prstGeom prst="roundRect">
                <a:avLst>
                  <a:gd name="adj" fmla="val 5063"/>
                </a:avLst>
              </a:prstGeom>
              <a:solidFill>
                <a:srgbClr val="2F2F2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 rot="0">
                <a:off x="768187" y="3999198"/>
                <a:ext cx="1944426" cy="2026646"/>
                <a:chOff x="947371" y="1865293"/>
                <a:chExt cx="3215781" cy="2026646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947371" y="1865293"/>
                  <a:ext cx="3215781" cy="7709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分割线</a:t>
                  </a:r>
                  <a:endParaRPr lang="en-US" sz="1100"/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47371" y="2636286"/>
                  <a:ext cx="3215779" cy="125565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Aft>
                      <a:spcPts val="600"/>
                    </a:spcAft>
                    <a:defRPr/>
                  </a:pPr>
                  <a:r>
                    <a:rPr lang="en-US" sz="12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 `---` 或 `***` 来创建水平分割线。</a:t>
                  </a:r>
                  <a:endParaRPr lang="en-US" sz="1100"/>
                </a:p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68187" y="3059330"/>
                <a:ext cx="1944425" cy="8840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44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06.</a:t>
                </a:r>
                <a:endParaRPr lang="en-US" sz="110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你的第一个Markdown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76172eb-5f6e-4e65-b63e-e6f364bfe70f"/>
          <p:cNvGrpSpPr/>
          <p:nvPr/>
        </p:nvGrpSpPr>
        <p:grpSpPr>
          <a:xfrm rot="0">
            <a:off x="630316" y="1130300"/>
            <a:ext cx="10918669" cy="4840046"/>
            <a:chOff x="630316" y="1130300"/>
            <a:chExt cx="10918669" cy="4840046"/>
          </a:xfrm>
        </p:grpSpPr>
        <p:sp>
          <p:nvSpPr>
            <p:cNvPr id="3" name="AutoShape 3"/>
            <p:cNvSpPr/>
            <p:nvPr/>
          </p:nvSpPr>
          <p:spPr>
            <a:xfrm>
              <a:off x="4836108" y="1886039"/>
              <a:ext cx="2507085" cy="45719"/>
            </a:xfrm>
            <a:prstGeom prst="rect">
              <a:avLst/>
            </a:prstGeom>
            <a:gradFill>
              <a:gsLst>
                <a:gs pos="15000">
                  <a:srgbClr val="377FF8">
                    <a:alpha val="72941"/>
                  </a:srgbClr>
                </a:gs>
                <a:gs pos="100000">
                  <a:srgbClr val="3383ED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6656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将Markdown作为你的默认技术记录工具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30316" y="2126893"/>
              <a:ext cx="2609921" cy="3428173"/>
              <a:chOff x="630316" y="2126893"/>
              <a:chExt cx="2609921" cy="342817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36320" y="2131611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97372" y="2182782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2132797" y="2178137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630316" y="2126893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  <a:lumMod val="60000"/>
                      <a:lumOff val="40000"/>
                    </a:srgbClr>
                  </a:gs>
                  <a:gs pos="46999">
                    <a:srgbClr val="3383ED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2986606" y="2270971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383ED">
                      <a:alpha val="100000"/>
                      <a:lumMod val="60000"/>
                      <a:lumOff val="40000"/>
                    </a:srgbClr>
                  </a:gs>
                  <a:gs pos="44999">
                    <a:srgbClr val="3383ED">
                      <a:alpha val="100000"/>
                    </a:srgbClr>
                  </a:gs>
                  <a:gs pos="100000">
                    <a:srgbClr val="377FF8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 rot="0">
                <a:off x="642600" y="2137635"/>
                <a:ext cx="2583875" cy="3417431"/>
                <a:chOff x="642600" y="2137635"/>
                <a:chExt cx="2583875" cy="3417431"/>
              </a:xfrm>
            </p:grpSpPr>
            <p:sp>
              <p:nvSpPr>
                <p:cNvPr id="12" name="AutoShape 12"/>
                <p:cNvSpPr/>
                <p:nvPr/>
              </p:nvSpPr>
              <p:spPr>
                <a:xfrm>
                  <a:off x="642600" y="2137635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77FF8">
                        <a:alpha val="30196"/>
                      </a:srgbClr>
                    </a:gs>
                    <a:gs pos="87999">
                      <a:srgbClr val="377FF8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47651" y="2439028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09188" y="3385725"/>
                  <a:ext cx="2449859" cy="7786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写提示词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09189" y="4278772"/>
                  <a:ext cx="2449859" cy="127629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向AI提问时，使用Markdown格式化你的问题、要求和示例，能让指令更清晰。</a:t>
                  </a:r>
                  <a:endParaRPr lang="en-US" sz="1100"/>
                </a:p>
              </p:txBody>
            </p:sp>
          </p:grpSp>
        </p:grpSp>
        <p:grpSp>
          <p:nvGrpSpPr>
            <p:cNvPr id="16" name="Group 16"/>
            <p:cNvGrpSpPr/>
            <p:nvPr/>
          </p:nvGrpSpPr>
          <p:grpSpPr>
            <a:xfrm rot="0">
              <a:off x="3399899" y="2596435"/>
              <a:ext cx="2609921" cy="3373911"/>
              <a:chOff x="3399899" y="2596435"/>
              <a:chExt cx="2609921" cy="3373911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3405903" y="2601153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3466955" y="2652324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4902380" y="2647679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3399899" y="2596435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  <a:lumMod val="60000"/>
                      <a:lumOff val="40000"/>
                    </a:srgbClr>
                  </a:gs>
                  <a:gs pos="46999">
                    <a:srgbClr val="3383ED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5756189" y="2740513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383ED">
                      <a:alpha val="100000"/>
                      <a:lumMod val="60000"/>
                      <a:lumOff val="40000"/>
                    </a:srgbClr>
                  </a:gs>
                  <a:gs pos="44999">
                    <a:srgbClr val="3383ED">
                      <a:alpha val="100000"/>
                    </a:srgbClr>
                  </a:gs>
                  <a:gs pos="100000">
                    <a:srgbClr val="377FF8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 rot="0">
                <a:off x="3412183" y="2607177"/>
                <a:ext cx="2583875" cy="3363169"/>
                <a:chOff x="3412183" y="2607177"/>
                <a:chExt cx="2583875" cy="3363169"/>
              </a:xfrm>
            </p:grpSpPr>
            <p:sp>
              <p:nvSpPr>
                <p:cNvPr id="23" name="AutoShape 23"/>
                <p:cNvSpPr/>
                <p:nvPr/>
              </p:nvSpPr>
              <p:spPr>
                <a:xfrm>
                  <a:off x="3412183" y="2607177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77FF8">
                        <a:alpha val="30196"/>
                      </a:srgbClr>
                    </a:gs>
                    <a:gs pos="87999">
                      <a:srgbClr val="377FF8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217234" y="2908570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479929" y="3801006"/>
                  <a:ext cx="2449859" cy="77864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整理代码案例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479930" y="4694053"/>
                  <a:ext cx="2449859" cy="12762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将收集的代码片段、API示例用Markdown记录，并附上说明，方便日后检索和复用。</a:t>
                  </a:r>
                  <a:endParaRPr lang="en-US" sz="1100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 rot="0">
              <a:off x="6169482" y="2596435"/>
              <a:ext cx="2609921" cy="3373911"/>
              <a:chOff x="6169482" y="2596435"/>
              <a:chExt cx="2609921" cy="3373911"/>
            </a:xfrm>
          </p:grpSpPr>
          <p:sp>
            <p:nvSpPr>
              <p:cNvPr id="28" name="AutoShape 28"/>
              <p:cNvSpPr/>
              <p:nvPr/>
            </p:nvSpPr>
            <p:spPr>
              <a:xfrm flipH="1">
                <a:off x="6175485" y="2601153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 flipH="1">
                <a:off x="7848653" y="2652324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1">
                <a:off x="6526744" y="2647679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 flipH="1">
                <a:off x="8159643" y="2596435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  <a:lumMod val="60000"/>
                      <a:lumOff val="40000"/>
                    </a:srgbClr>
                  </a:gs>
                  <a:gs pos="46999">
                    <a:srgbClr val="3383ED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1">
                <a:off x="6169482" y="2740513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383ED">
                      <a:alpha val="100000"/>
                      <a:lumMod val="60000"/>
                      <a:lumOff val="40000"/>
                    </a:srgbClr>
                  </a:gs>
                  <a:gs pos="44999">
                    <a:srgbClr val="3383ED">
                      <a:alpha val="100000"/>
                    </a:srgbClr>
                  </a:gs>
                  <a:gs pos="100000">
                    <a:srgbClr val="377FF8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 rot="0">
                <a:off x="6183244" y="2607177"/>
                <a:ext cx="2583875" cy="3363169"/>
                <a:chOff x="6183244" y="2607177"/>
                <a:chExt cx="2583875" cy="3363169"/>
              </a:xfrm>
            </p:grpSpPr>
            <p:sp>
              <p:nvSpPr>
                <p:cNvPr id="34" name="AutoShape 34"/>
                <p:cNvSpPr/>
                <p:nvPr/>
              </p:nvSpPr>
              <p:spPr>
                <a:xfrm flipH="1">
                  <a:off x="6183244" y="2607177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77FF8">
                        <a:alpha val="30196"/>
                      </a:srgbClr>
                    </a:gs>
                    <a:gs pos="87999">
                      <a:srgbClr val="377FF8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 flipH="1">
                  <a:off x="6986816" y="2908570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3</a:t>
                  </a:r>
                  <a:endParaRPr lang="en-US" sz="1100"/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 flipH="1">
                  <a:off x="6249512" y="3801006"/>
                  <a:ext cx="2449859" cy="77864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记录开发笔记</a:t>
                  </a:r>
                  <a:endParaRPr lang="en-US" sz="110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 flipH="1">
                  <a:off x="6249510" y="4694053"/>
                  <a:ext cx="2449859" cy="12762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用Markdown撰写项目文档、设计思路、调试日志，结构清晰，版本控制友好。</a:t>
                  </a:r>
                  <a:endParaRPr lang="en-US" sz="1100"/>
                </a:p>
              </p:txBody>
            </p:sp>
          </p:grpSp>
        </p:grpSp>
        <p:grpSp>
          <p:nvGrpSpPr>
            <p:cNvPr id="38" name="Group 38"/>
            <p:cNvGrpSpPr/>
            <p:nvPr/>
          </p:nvGrpSpPr>
          <p:grpSpPr>
            <a:xfrm rot="0">
              <a:off x="8939064" y="2126893"/>
              <a:ext cx="2609921" cy="3428173"/>
              <a:chOff x="8939064" y="2126893"/>
              <a:chExt cx="2609921" cy="3428173"/>
            </a:xfrm>
          </p:grpSpPr>
          <p:sp>
            <p:nvSpPr>
              <p:cNvPr id="39" name="AutoShape 39"/>
              <p:cNvSpPr/>
              <p:nvPr/>
            </p:nvSpPr>
            <p:spPr>
              <a:xfrm flipH="1">
                <a:off x="8945067" y="2131611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/>
            </p:nvSpPr>
            <p:spPr>
              <a:xfrm flipH="1">
                <a:off x="10618235" y="2182782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 flipH="1">
                <a:off x="9296326" y="2178137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 flipH="1">
                <a:off x="10929225" y="2126893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77FF8">
                      <a:alpha val="100000"/>
                      <a:lumMod val="60000"/>
                      <a:lumOff val="40000"/>
                    </a:srgbClr>
                  </a:gs>
                  <a:gs pos="46999">
                    <a:srgbClr val="3383ED">
                      <a:alpha val="100000"/>
                    </a:srgbClr>
                  </a:gs>
                  <a:gs pos="100000">
                    <a:srgbClr val="3383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 flipH="1">
                <a:off x="8939064" y="2270971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383ED">
                      <a:alpha val="100000"/>
                      <a:lumMod val="60000"/>
                      <a:lumOff val="40000"/>
                    </a:srgbClr>
                  </a:gs>
                  <a:gs pos="44999">
                    <a:srgbClr val="3383ED">
                      <a:alpha val="100000"/>
                    </a:srgbClr>
                  </a:gs>
                  <a:gs pos="100000">
                    <a:srgbClr val="377FF8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 rot="0">
                <a:off x="8952826" y="2137635"/>
                <a:ext cx="2583875" cy="3417431"/>
                <a:chOff x="8952826" y="2137635"/>
                <a:chExt cx="2583875" cy="3417431"/>
              </a:xfrm>
            </p:grpSpPr>
            <p:sp>
              <p:nvSpPr>
                <p:cNvPr id="45" name="AutoShape 45"/>
                <p:cNvSpPr/>
                <p:nvPr/>
              </p:nvSpPr>
              <p:spPr>
                <a:xfrm flipH="1">
                  <a:off x="8952826" y="2137635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77FF8">
                        <a:alpha val="30196"/>
                      </a:srgbClr>
                    </a:gs>
                    <a:gs pos="87999">
                      <a:srgbClr val="377FF8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 flipH="1">
                  <a:off x="9020252" y="3385725"/>
                  <a:ext cx="2449860" cy="7786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统一行业规范</a:t>
                  </a:r>
                  <a:endParaRPr lang="en-US" sz="1100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 flipH="1">
                  <a:off x="9020250" y="4278772"/>
                  <a:ext cx="2449860" cy="127629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学会并习惯使用Markdown，是融入现代软件开发和AI编程社区的第一步。</a:t>
                  </a:r>
                  <a:endParaRPr lang="en-US" sz="1100"/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 flipH="1">
                  <a:off x="9756398" y="2439028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2F2F2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4</a:t>
                  </a:r>
                  <a:endParaRPr lang="en-US" sz="1100"/>
                </a:p>
              </p:txBody>
            </p:sp>
          </p:grpSp>
        </p:grpSp>
      </p:grpSp>
      <p:sp>
        <p:nvSpPr>
          <p:cNvPr id="49" name="TextBox 4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最佳实践养成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30300"/>
            <a:ext cx="5943602" cy="31826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72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2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3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4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5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6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7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8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9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10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11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12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ags/tag13.xml><?xml version="1.0" encoding="utf-8"?>
<p:tagLst xmlns:p="http://schemas.openxmlformats.org/presentationml/2006/main">
  <p:tag name="KSO_WM_DIAGRAM_VIRTUALLY_FRAME" val="{&quot;height&quot;:378,&quot;left&quot;:52,&quot;top&quot;:89,&quot;width&quot;:855}"/>
</p:tagLst>
</file>

<file path=ppt/theme/theme1.xml><?xml version="1.0" encoding="utf-8"?>
<a:theme xmlns:a="http://schemas.openxmlformats.org/drawingml/2006/main" name="2161d7fd-1563-4c7c-ab0e-d4188dd466a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61d7fd-1563-4c7c-ab0e-d4188dd466a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WPS 演示</Application>
  <PresentationFormat>On-screen Show (4:3)</PresentationFormat>
  <Paragraphs>180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2161d7fd-1563-4c7c-ab0e-d4188dd466ab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清脆点酱</cp:lastModifiedBy>
  <cp:revision>2</cp:revision>
  <dcterms:created xsi:type="dcterms:W3CDTF">2006-08-16T00:00:00Z</dcterms:created>
  <dcterms:modified xsi:type="dcterms:W3CDTF">2026-07-02T13:20:04Z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25DAE041330248E98AF5290D434F5B90_12</vt:lpwstr>
  </property>
</Properties>
</file>