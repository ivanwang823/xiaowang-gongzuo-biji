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分享。你是否也曾满怀希望地向AI许下一个宏大的编程愿望，结果却得到一个无法使用、难以修改的“黑箱子”？你是否在与AI的合作中，感觉自己像在和一个“天才但叛逆”的实习生打交道，常常被它气得哭笑不得？今天，我们就来解决这个问题，教大家如何给AI立下规矩，让它成为你高效、可靠的编程伙伴。这堂课，我们将揭示为什么你和AI合作总翻车，并给出简单有效的三步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今天的分享中，我们将围绕三个核心问题展开。首先，我们会探讨为什么与AI合作必须要有流程，深入了解AI的“性格”特点。接着，我将为大家介绍一套简单实用的“三步法”，教你如何一步步引导AI完成任务。然后，我们会重点分析一些常见的合作陷阱，比如“一句话许愿”，并告诉你如何规避它们。最后，我们会进行总结，帮助大家巩固所学，真正成为AI编程的指挥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我们开始建立流程之前，首先要明白一个核心问题：为什么AI需要“工作流”？我们可以把AI想象成一个极其聪明但性格有点古怪的实习生。它的智商很高，学习能力超强，但同时也有一些让人头疼的“小毛病”。理解这些毛病，是我们有效管理它的第一步。接下来，我们就来看看这位“天才实习生”到底有哪些让人抓狂的行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的核心是，不要把AI当成无所不能的天才，而要把它当成一个需要严格管理的实习生。人类做事的老办法——定方案、分步干、查结果，套在AI身上同样适用。定方案，就是先明确需求，不让AI盲目动手；分步干，就是拆解任务，小步快跑，及时检查；查结果，就是用客观的报错信息来让AI纠正错误。很多人用AI翻车，就是因为跳过了定方案这一步。记住，需求没说清，AI写的每一行代码都是未来的麻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要警惕一个最大的陷阱：就是随口说“帮我做个淘宝”这种大需求。为什么这是陷阱？有三个原因：第一，AI一次性给你的是“铁疙瘩”，不是可拆解的“积木”，想改都改不动；第二，出了问题你根本不知道“哪儿坏了”，因为它是个黑箱子；第三，最后往往没法改，只能推翻重来，永远在从零开始。所以记住，AI的“一句话生成”是广告，不是说明书。真正靠谱的，是把大愿望拆成小任务，一步一步盯着AI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一句话许愿”的危害是深远的。首先，它生成的代码通常是不可维护的，就像一个黑盒，你不敢轻易改动。其次，一旦出现问题，定位错误将变得极其困难。最关键的是，这种方式让你无法积累和迭代，每次修改都可能意味着推倒重来，你永远在原地踏步。这看似高效，实则是一种“伪效率”，会浪费你大量的时间和精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让我们来总结一下今天的核心内容。请大家记住这三句话，这将让你立刻成为AI编程的指挥官。第一，为什么必须建流程？因为AI的天性就是需要约束。第二，流程怎么建？记住“画图纸、搬砖砌墙、监理验收”这三步。第三，绝对不能干什么？绝对不要试图“一句话许愿”，那是最大的陷阱。把这三句话刻在心里，你的AI合作效率将大大提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送给大家一句大白话作为结尾：别把AI当无所不能的“神灯”，而要把它当成一个聪明但需要指导的“刚来的实习生”。你给它的流程越细致，它干出来的活就越漂亮。反之，你越是想偷懒，它就越可能给你挖坑。希望今天的分享能帮助大家更好地与AI协作，让它真正成为我们工作和学习中的得力助手。感谢大家的观看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5080000"/>
            <a:ext cx="1524000" cy="1524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0" y="1270000"/>
            <a:ext cx="1270000" cy="127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1016000"/>
            <a:ext cx="10160000" cy="25400"/>
          </a:xfrm>
          <a:prstGeom prst="roundRect">
            <a:avLst>
              <a:gd name="adj" fmla="val 0"/>
            </a:avLst>
          </a:prstGeom>
          <a:solidFill>
            <a:srgbClr val="38BD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6350000"/>
            <a:ext cx="10160000" cy="25400"/>
          </a:xfrm>
          <a:prstGeom prst="roundRect">
            <a:avLst>
              <a:gd name="adj" fmla="val 0"/>
            </a:avLst>
          </a:prstGeom>
          <a:solidFill>
            <a:srgbClr val="38BD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24000" y="1270000"/>
            <a:ext cx="25400" cy="50800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176000" y="1270000"/>
            <a:ext cx="25400" cy="50800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968500" y="1905000"/>
            <a:ext cx="8255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给AI立规矩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2800" b="1" i="0" u="none" strike="noStrike">
                <a:solidFill>
                  <a:srgbClr val="CCCCCC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从“瞎指挥”到“有流程”的实战指南</a:t>
            </a:r>
            <a:endParaRPr lang="en-US" sz="2800" b="1" i="0" u="none" strike="noStrike">
              <a:solidFill>
                <a:srgbClr val="CCCCCC"/>
              </a:solidFill>
              <a:latin typeface="ChillDINGothic SemiBold"/>
              <a:ea typeface="ChillDINGothic SemiBold"/>
              <a:cs typeface="ChillDINGothic SemiBold"/>
              <a:sym typeface="ChillDINGothic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8500" y="330200"/>
            <a:ext cx="38100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500" b="0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本次分享内容概览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18800" y="4318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2026.05.20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98500" y="1600200"/>
            <a:ext cx="2603500" cy="4775200"/>
          </a:xfrm>
          <a:prstGeom prst="roundRect">
            <a:avLst>
              <a:gd name="adj" fmla="val 7317"/>
            </a:avLst>
          </a:prstGeom>
          <a:solidFill>
            <a:srgbClr val="3B82F6">
              <a:alpha val="4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2159000"/>
            <a:ext cx="22098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0" i="0" u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41910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为什么需要流程？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4953000"/>
            <a:ext cx="2209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深入剖析AI的“性格缺陷”，理解建立标准化工作流的必要性，打破人机协作的效率壁垒，夯实高效协作的基础。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29000" y="1600200"/>
            <a:ext cx="2603500" cy="4775200"/>
          </a:xfrm>
          <a:prstGeom prst="roundRect">
            <a:avLst>
              <a:gd name="adj" fmla="val 7317"/>
            </a:avLst>
          </a:prstGeom>
          <a:solidFill>
            <a:srgbClr val="17253D">
              <a:alpha val="79900"/>
            </a:srgbClr>
          </a:solidFill>
          <a:ln w="25400" cap="flat" cmpd="sng">
            <a:solidFill>
              <a:srgbClr val="3B82F6">
                <a:alpha val="94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619500" y="2159000"/>
            <a:ext cx="22098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0" i="0" u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19500" y="41910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如何建立流程？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19500" y="4953000"/>
            <a:ext cx="2209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掌握简单有效的“三步法”，学会像指挥实习生一样清晰、有条理地向AI下达指令，让协作过程规范化、高效化。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46800" y="1600200"/>
            <a:ext cx="2603500" cy="4775200"/>
          </a:xfrm>
          <a:prstGeom prst="roundRect">
            <a:avLst>
              <a:gd name="adj" fmla="val 7317"/>
            </a:avLst>
          </a:prstGeom>
          <a:solidFill>
            <a:srgbClr val="17253D">
              <a:alpha val="79900"/>
            </a:srgbClr>
          </a:solidFill>
          <a:ln w="25400" cap="flat" cmpd="sng">
            <a:solidFill>
              <a:srgbClr val="3B82F6">
                <a:alpha val="94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2159000"/>
            <a:ext cx="22098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0" i="0" u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41910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如何避免陷阱？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953000"/>
            <a:ext cx="2209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识别并避开“一句话许愿”等常见的沟通误区，学会精准定义需求与提问，规避协作中的无效沟通与结果偏差。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77300" y="1600200"/>
            <a:ext cx="2603500" cy="4775200"/>
          </a:xfrm>
          <a:prstGeom prst="roundRect">
            <a:avLst>
              <a:gd name="adj" fmla="val 7317"/>
            </a:avLst>
          </a:prstGeom>
          <a:solidFill>
            <a:srgbClr val="17253D">
              <a:alpha val="79900"/>
            </a:srgbClr>
          </a:solidFill>
          <a:ln w="25400" cap="flat" cmpd="sng">
            <a:solidFill>
              <a:srgbClr val="3B82F6">
                <a:alpha val="94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67800" y="2159000"/>
            <a:ext cx="22098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0" i="0" u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67800" y="4191000"/>
            <a:ext cx="220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核心要点总结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67800" y="4953000"/>
            <a:ext cx="2209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回顾关键知识点，将流程思维融入日常工作，真正成为驾驭AI的高效指挥官，实现人机协同价值的最大化。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762000"/>
            <a:ext cx="1092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AI再聪明，也是个“记性不好的天才实习生”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43000" y="1829972"/>
            <a:ext cx="10414000" cy="3048000"/>
          </a:xfrm>
          <a:prstGeom prst="roundRect">
            <a:avLst>
              <a:gd name="adj" fmla="val 6666"/>
            </a:avLst>
          </a:prstGeom>
          <a:solidFill>
            <a:srgbClr val="172554">
              <a:alpha val="7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381000" tIns="254000" rIns="381000" bIns="254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毛病1：聊着聊着就忘事。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你跟它说了5件事，它记住最后1件，前面4件全跑偏。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毛病2：修好东墙拆西墙。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你让它改个按钮颜色，它顺手把你整个页面布局都重写了。</a:t>
            </a:r>
            <a:endParaRPr lang="en-US" sz="18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毛病3：你喊“不行”，它不知道“怎样才行”。</a:t>
            </a: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你只能说“感觉不对”，但AI听不懂“感觉”，只能瞎猜。</a:t>
            </a:r>
            <a:endParaRPr lang="en-US" sz="18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143000" y="5191454"/>
            <a:ext cx="10414000" cy="1397000"/>
          </a:xfrm>
          <a:prstGeom prst="roundRect">
            <a:avLst>
              <a:gd name="adj" fmla="val 14545"/>
            </a:avLst>
          </a:prstGeom>
          <a:solidFill>
            <a:srgbClr val="172554">
              <a:alpha val="7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381000" tIns="0" rIns="38100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不是AI没用，是你没给它流程。没有工作流，AI就像个没头苍蝇；有了工作流，它才能按部就班干活。</a:t>
            </a:r>
            <a:br>
              <a:rPr lang="en-US" sz="16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工作流，就是给AI戴上的“紧箍咒”。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11200" y="1270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别瞎想，照着人类做事的老办法来就行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11200" y="2540000"/>
          <a:ext cx="10922000" cy="342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3810000"/>
                <a:gridCol w="4572000"/>
              </a:tblGrid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人类做事流程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C4D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套在AI身上的动作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C4D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目的是什么？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C4D">
                        <a:alpha val="100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0F0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1. 定方案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0F0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先定“合同”，不让AI动手。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EC8D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你要什么、不要什么，白纸黑字写清楚。AI没理解之前，坚决不让它写一行。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0F0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2. 分步干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0F0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一次只干一件小事。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EC8D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不让AI一口气干完所有活，一次只干一小块。干完立马检查，错了就改。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0F0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 查结果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0F0F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拿“报错提示”说话。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EC8D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你说“感觉不对”没用，把电脑上</a:t>
                      </a:r>
                      <a:r>
                        <a:rPr lang="en-US" sz="12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红色的报错提示</a:t>
                      </a:r>
                      <a:r>
                        <a:rPr lang="en-US" sz="1200" b="0" i="0" u="none" strike="noStrike">
                          <a:solidFill>
                            <a:srgbClr val="BEC8D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原样贴给AI，让它自己认错、自己改。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E52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11200" y="5588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C8D2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很多人翻车，就是因为跳过了第一步“定方案”，直接让AI去干活。记住：</a:t>
            </a:r>
            <a:r>
              <a:rPr lang="en-US" sz="13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需求没说清之前，AI写的每一行东西，都是未来要返工的麻烦。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889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警惕“帮我做个淘宝”——这是最大的陷阱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413000"/>
            <a:ext cx="3175000" cy="3302000"/>
          </a:xfrm>
          <a:prstGeom prst="roundRect">
            <a:avLst>
              <a:gd name="adj" fmla="val 0"/>
            </a:avLst>
          </a:prstGeom>
          <a:solidFill>
            <a:srgbClr val="172A45">
              <a:alpha val="90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190500" tIns="254000" rIns="190500" bIns="2540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E0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陷阱1：给你的是“铁疙瘩”，不是“积木”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一次性给你几百行东西，像一块生铁，你想改个螺丝都敲不动。如果按流程一步步来，就像乐高积木，想拆哪块拆哪块，想改哪块改哪块。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445000" y="2413000"/>
            <a:ext cx="3175000" cy="3302000"/>
          </a:xfrm>
          <a:prstGeom prst="roundRect">
            <a:avLst>
              <a:gd name="adj" fmla="val 0"/>
            </a:avLst>
          </a:prstGeom>
          <a:solidFill>
            <a:srgbClr val="172A45">
              <a:alpha val="90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190500" tIns="254000" rIns="190500" bIns="2540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E0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陷阱2：出了岔子，你连“哪儿坏了”都不知道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一句“做个商城”生成的东西，是个黑箱子。出问题了都不知道是支付环节坏了还是购物车坏了。但按流程做（先定方案、再分步干），出问题你至少知道是哪一块的事。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128000" y="2413000"/>
            <a:ext cx="3175000" cy="3302000"/>
          </a:xfrm>
          <a:prstGeom prst="roundRect">
            <a:avLst>
              <a:gd name="adj" fmla="val 0"/>
            </a:avLst>
          </a:prstGeom>
          <a:solidFill>
            <a:srgbClr val="172A45">
              <a:alpha val="90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190500" tIns="254000" rIns="190500" bIns="2540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E0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陷阱3：没法改，只能推翻重来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老板说“把蓝色改成红色”，你找半天找不到颜色在哪。最后只能清空对话，从头再许一次愿。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这就陷入死循环：永远在从零开始，永远没有积累。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12470" y="5625465"/>
            <a:ext cx="1054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B0B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AI工具的“一句话生成”是广告，不是说明书。</a:t>
            </a:r>
            <a:r>
              <a:rPr lang="en-US" sz="15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真正靠谱的做法，不是许愿，是派活——把大愿望拆成小任务，一步一步盯着AI完成。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“一句话许愿”的深层危害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581150" y="2929562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0F0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问题定位困难：无分步构建让Bug排查无迹可寻，定位成本极高。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581150" y="5215562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0F0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陷入“伪效率”：初期省时却埋隐患，后期调试耗时数倍得不偿失。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81150" y="4072562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0F0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无法积累迭代：修改常需推倒重来，工作难以沉淀，项目止步不前。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81150" y="1659562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0F0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代码不可维护：生成代码无结构缺注释，如同黑盒，改动易出故障。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71744">
            <a:off x="946309" y="1970712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" name="Connector 8"/>
          <p:cNvCxnSpPr/>
          <p:nvPr/>
        </p:nvCxnSpPr>
        <p:spPr>
          <a:xfrm rot="5228255">
            <a:off x="946150" y="197087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9"/>
          <p:cNvCxnSpPr/>
          <p:nvPr/>
        </p:nvCxnSpPr>
        <p:spPr>
          <a:xfrm rot="-171744">
            <a:off x="946309" y="3240712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0" name="Connector 10"/>
          <p:cNvCxnSpPr/>
          <p:nvPr/>
        </p:nvCxnSpPr>
        <p:spPr>
          <a:xfrm rot="5228255">
            <a:off x="946150" y="324087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" name="Connector 11"/>
          <p:cNvCxnSpPr/>
          <p:nvPr/>
        </p:nvCxnSpPr>
        <p:spPr>
          <a:xfrm rot="-171744">
            <a:off x="946309" y="4383712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" name="Connector 12"/>
          <p:cNvCxnSpPr/>
          <p:nvPr/>
        </p:nvCxnSpPr>
        <p:spPr>
          <a:xfrm rot="5228255">
            <a:off x="946150" y="438387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" name="Connector 13"/>
          <p:cNvCxnSpPr/>
          <p:nvPr/>
        </p:nvCxnSpPr>
        <p:spPr>
          <a:xfrm rot="-171744">
            <a:off x="946309" y="5526712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" name="Connector 14"/>
          <p:cNvCxnSpPr/>
          <p:nvPr/>
        </p:nvCxnSpPr>
        <p:spPr>
          <a:xfrm rot="5228255">
            <a:off x="946150" y="552687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442200" y="0"/>
            <a:ext cx="47498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73100" y="1435100"/>
            <a:ext cx="609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记住这三句话，你就是AI编程的指挥官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73100" y="317500"/>
            <a:ext cx="1270000" cy="1155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001000" y="762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告别对AI的盲目指令，用标准化流程驯服模型，让智能工具成为你手中的高效武器。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001000" y="1905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立规矩：为何要建流程？</a:t>
            </a:r>
            <a:b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AI像脱缰野马，没流程就会自作主张、偏离目标。流程是给它的“紧箍咒”，确保每一步都按你的指令推进，不偏航。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001000" y="3302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建章法：流程怎么落地？</a:t>
            </a:r>
            <a:b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三步走策略：先定规则画“图纸”，再拆解任务干“小活”，最后验收拿“证据”。拒绝笼统要求，用细节换精准结果。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0" y="4699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避陷阱：绝对不能做什么？</a:t>
            </a:r>
            <a:b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严禁张嘴就要“全套成品”！这种“一句话搞定”的想法是效率陷阱，既牺牲交付质量，又浪费大量沟通调试的时间。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724140" y="2067560"/>
            <a:ext cx="152400" cy="152400"/>
          </a:xfrm>
          <a:prstGeom prst="ellipse">
            <a:avLst/>
          </a:prstGeom>
          <a:solidFill>
            <a:srgbClr val="00E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703820" y="3469640"/>
            <a:ext cx="152400" cy="152400"/>
          </a:xfrm>
          <a:prstGeom prst="ellipse">
            <a:avLst/>
          </a:prstGeom>
          <a:solidFill>
            <a:srgbClr val="00E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88580" y="4866640"/>
            <a:ext cx="152400" cy="152400"/>
          </a:xfrm>
          <a:prstGeom prst="ellipse">
            <a:avLst/>
          </a:prstGeom>
          <a:solidFill>
            <a:srgbClr val="00E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cxnSp>
        <p:nvCxnSpPr>
          <p:cNvPr id="13" name="Connector 13"/>
          <p:cNvCxnSpPr/>
          <p:nvPr/>
        </p:nvCxnSpPr>
        <p:spPr>
          <a:xfrm rot="5364564">
            <a:off x="184085" y="5765898"/>
            <a:ext cx="12320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" name="Connector 14"/>
          <p:cNvCxnSpPr/>
          <p:nvPr/>
        </p:nvCxnSpPr>
        <p:spPr>
          <a:xfrm rot="5373759">
            <a:off x="69802" y="5549973"/>
            <a:ext cx="16637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6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" name="Connector 15"/>
          <p:cNvCxnSpPr/>
          <p:nvPr/>
        </p:nvCxnSpPr>
        <p:spPr>
          <a:xfrm rot="5364564">
            <a:off x="95185" y="5765898"/>
            <a:ext cx="12320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6" name="Connector 16"/>
          <p:cNvCxnSpPr/>
          <p:nvPr/>
        </p:nvCxnSpPr>
        <p:spPr>
          <a:xfrm rot="5373958">
            <a:off x="279352" y="5543622"/>
            <a:ext cx="167649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" name="Connector 17"/>
          <p:cNvCxnSpPr/>
          <p:nvPr/>
        </p:nvCxnSpPr>
        <p:spPr>
          <a:xfrm rot="5378780">
            <a:off x="-25439" y="5353109"/>
            <a:ext cx="205747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8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" name="Connector 18"/>
          <p:cNvCxnSpPr/>
          <p:nvPr/>
        </p:nvCxnSpPr>
        <p:spPr>
          <a:xfrm rot="5371354">
            <a:off x="457147" y="5619829"/>
            <a:ext cx="152410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A2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" name="Connector 19"/>
          <p:cNvCxnSpPr/>
          <p:nvPr/>
        </p:nvCxnSpPr>
        <p:spPr>
          <a:xfrm rot="5345450">
            <a:off x="1022249" y="5981851"/>
            <a:ext cx="80030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6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" name="Connector 20"/>
          <p:cNvCxnSpPr/>
          <p:nvPr/>
        </p:nvCxnSpPr>
        <p:spPr>
          <a:xfrm rot="5359563">
            <a:off x="971475" y="5842112"/>
            <a:ext cx="107964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" name="Connector 21"/>
          <p:cNvCxnSpPr/>
          <p:nvPr/>
        </p:nvCxnSpPr>
        <p:spPr>
          <a:xfrm rot="5364564">
            <a:off x="704785" y="5765898"/>
            <a:ext cx="12320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2" name="Connector 22"/>
          <p:cNvCxnSpPr/>
          <p:nvPr/>
        </p:nvCxnSpPr>
        <p:spPr>
          <a:xfrm rot="5360033">
            <a:off x="1282626" y="5835761"/>
            <a:ext cx="109234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3" name="Connector 23"/>
          <p:cNvCxnSpPr/>
          <p:nvPr/>
        </p:nvCxnSpPr>
        <p:spPr>
          <a:xfrm rot="5364564">
            <a:off x="996885" y="5765898"/>
            <a:ext cx="12320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6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4" name="Connector 24"/>
          <p:cNvCxnSpPr/>
          <p:nvPr/>
        </p:nvCxnSpPr>
        <p:spPr>
          <a:xfrm rot="5371354">
            <a:off x="1269947" y="5619829"/>
            <a:ext cx="152410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" name="Connector 25"/>
          <p:cNvCxnSpPr/>
          <p:nvPr/>
        </p:nvCxnSpPr>
        <p:spPr>
          <a:xfrm rot="5347928">
            <a:off x="1943004" y="5962794"/>
            <a:ext cx="83839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8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" name="Connector 26"/>
          <p:cNvCxnSpPr/>
          <p:nvPr/>
        </p:nvCxnSpPr>
        <p:spPr>
          <a:xfrm rot="5354174">
            <a:off x="1784265" y="5905627"/>
            <a:ext cx="95266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A2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" name="Connector 27"/>
          <p:cNvCxnSpPr/>
          <p:nvPr/>
        </p:nvCxnSpPr>
        <p:spPr>
          <a:xfrm rot="5342725">
            <a:off x="2082694" y="6000909"/>
            <a:ext cx="76221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6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" name="Connector 28"/>
          <p:cNvCxnSpPr/>
          <p:nvPr/>
        </p:nvCxnSpPr>
        <p:spPr>
          <a:xfrm rot="5354776">
            <a:off x="2400216" y="5899275"/>
            <a:ext cx="96536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9" name="Connector 29"/>
          <p:cNvCxnSpPr/>
          <p:nvPr/>
        </p:nvCxnSpPr>
        <p:spPr>
          <a:xfrm rot="5359563">
            <a:off x="2571675" y="5842112"/>
            <a:ext cx="107964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6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0" name="Connector 30"/>
          <p:cNvCxnSpPr/>
          <p:nvPr/>
        </p:nvCxnSpPr>
        <p:spPr>
          <a:xfrm rot="5350191">
            <a:off x="2228758" y="5943738"/>
            <a:ext cx="8764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1" name="Connector 31"/>
          <p:cNvCxnSpPr/>
          <p:nvPr/>
        </p:nvCxnSpPr>
        <p:spPr>
          <a:xfrm rot="5373958">
            <a:off x="2666952" y="5543622"/>
            <a:ext cx="167649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8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2" name="Connector 32"/>
          <p:cNvCxnSpPr/>
          <p:nvPr/>
        </p:nvCxnSpPr>
        <p:spPr>
          <a:xfrm rot="5376615">
            <a:off x="2381207" y="5448365"/>
            <a:ext cx="186698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A2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3" name="Connector 33"/>
          <p:cNvCxnSpPr/>
          <p:nvPr/>
        </p:nvCxnSpPr>
        <p:spPr>
          <a:xfrm rot="5367875">
            <a:off x="1047691" y="5702389"/>
            <a:ext cx="135901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6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4" name="Connector 34"/>
          <p:cNvCxnSpPr/>
          <p:nvPr/>
        </p:nvCxnSpPr>
        <p:spPr>
          <a:xfrm rot="5329126">
            <a:off x="1308003" y="5765898"/>
            <a:ext cx="123209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" name="Connector 35"/>
          <p:cNvCxnSpPr/>
          <p:nvPr/>
        </p:nvCxnSpPr>
        <p:spPr>
          <a:xfrm rot="5355935">
            <a:off x="1650919" y="5886572"/>
            <a:ext cx="9907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6" name="Connector 36"/>
          <p:cNvCxnSpPr/>
          <p:nvPr/>
        </p:nvCxnSpPr>
        <p:spPr>
          <a:xfrm rot="5347928">
            <a:off x="2146204" y="5962794"/>
            <a:ext cx="83839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6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Connector 37"/>
          <p:cNvCxnSpPr/>
          <p:nvPr/>
        </p:nvCxnSpPr>
        <p:spPr>
          <a:xfrm rot="5342725">
            <a:off x="2387494" y="6000909"/>
            <a:ext cx="76221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8" name="Connector 38"/>
          <p:cNvCxnSpPr/>
          <p:nvPr/>
        </p:nvCxnSpPr>
        <p:spPr>
          <a:xfrm rot="5359563">
            <a:off x="2673275" y="5842112"/>
            <a:ext cx="107964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8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9" name="Connector 39"/>
          <p:cNvCxnSpPr/>
          <p:nvPr/>
        </p:nvCxnSpPr>
        <p:spPr>
          <a:xfrm rot="5378780">
            <a:off x="2374861" y="5353109"/>
            <a:ext cx="205747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A2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" name="Connector 40"/>
          <p:cNvCxnSpPr/>
          <p:nvPr/>
        </p:nvCxnSpPr>
        <p:spPr>
          <a:xfrm rot="5360033">
            <a:off x="2451026" y="5835761"/>
            <a:ext cx="109234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6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1" name="Connector 41"/>
          <p:cNvCxnSpPr/>
          <p:nvPr/>
        </p:nvCxnSpPr>
        <p:spPr>
          <a:xfrm rot="5381215">
            <a:off x="2444715" y="5219752"/>
            <a:ext cx="232416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2" name="Connector 42"/>
          <p:cNvCxnSpPr/>
          <p:nvPr/>
        </p:nvCxnSpPr>
        <p:spPr>
          <a:xfrm rot="5364564">
            <a:off x="5924485" y="5765898"/>
            <a:ext cx="12320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3" name="Connector 43"/>
          <p:cNvCxnSpPr/>
          <p:nvPr/>
        </p:nvCxnSpPr>
        <p:spPr>
          <a:xfrm rot="5370869">
            <a:off x="5689546" y="5632531"/>
            <a:ext cx="14987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6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4" name="Connector 44"/>
          <p:cNvCxnSpPr/>
          <p:nvPr/>
        </p:nvCxnSpPr>
        <p:spPr>
          <a:xfrm rot="5370869">
            <a:off x="5880046" y="5632531"/>
            <a:ext cx="14987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" name="Connector 45"/>
          <p:cNvCxnSpPr/>
          <p:nvPr/>
        </p:nvCxnSpPr>
        <p:spPr>
          <a:xfrm rot="5371354">
            <a:off x="5473647" y="5619829"/>
            <a:ext cx="152410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8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6" name="Connector 46"/>
          <p:cNvCxnSpPr/>
          <p:nvPr/>
        </p:nvCxnSpPr>
        <p:spPr>
          <a:xfrm rot="5376615">
            <a:off x="5403807" y="5448365"/>
            <a:ext cx="186698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A2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7" name="Connector 47"/>
          <p:cNvCxnSpPr/>
          <p:nvPr/>
        </p:nvCxnSpPr>
        <p:spPr>
          <a:xfrm rot="5373759">
            <a:off x="5302202" y="5549973"/>
            <a:ext cx="16637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6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8" name="Connector 48"/>
          <p:cNvCxnSpPr/>
          <p:nvPr/>
        </p:nvCxnSpPr>
        <p:spPr>
          <a:xfrm rot="5345450">
            <a:off x="5530749" y="5981851"/>
            <a:ext cx="80030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9" name="Connector 49"/>
          <p:cNvCxnSpPr/>
          <p:nvPr/>
        </p:nvCxnSpPr>
        <p:spPr>
          <a:xfrm rot="5359563">
            <a:off x="5289475" y="5842112"/>
            <a:ext cx="107964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0" name="Connector 50"/>
          <p:cNvCxnSpPr/>
          <p:nvPr/>
        </p:nvCxnSpPr>
        <p:spPr>
          <a:xfrm rot="5364564">
            <a:off x="5403785" y="5765898"/>
            <a:ext cx="12320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6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1" name="Connector 51"/>
          <p:cNvCxnSpPr/>
          <p:nvPr/>
        </p:nvCxnSpPr>
        <p:spPr>
          <a:xfrm rot="5360033">
            <a:off x="4978326" y="5835761"/>
            <a:ext cx="109234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2" name="Connector 52"/>
          <p:cNvCxnSpPr/>
          <p:nvPr/>
        </p:nvCxnSpPr>
        <p:spPr>
          <a:xfrm rot="5350191">
            <a:off x="5289458" y="5943738"/>
            <a:ext cx="8764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8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3" name="Connector 53"/>
          <p:cNvCxnSpPr/>
          <p:nvPr/>
        </p:nvCxnSpPr>
        <p:spPr>
          <a:xfrm rot="5371354">
            <a:off x="4546547" y="5619829"/>
            <a:ext cx="152410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A2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4" name="Connector 54"/>
          <p:cNvCxnSpPr/>
          <p:nvPr/>
        </p:nvCxnSpPr>
        <p:spPr>
          <a:xfrm rot="5347928">
            <a:off x="4457604" y="5962794"/>
            <a:ext cx="83839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6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5" name="Connector 55"/>
          <p:cNvCxnSpPr/>
          <p:nvPr/>
        </p:nvCxnSpPr>
        <p:spPr>
          <a:xfrm rot="5354174">
            <a:off x="4616365" y="5905627"/>
            <a:ext cx="95266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6" name="Connector 56"/>
          <p:cNvCxnSpPr/>
          <p:nvPr/>
        </p:nvCxnSpPr>
        <p:spPr>
          <a:xfrm rot="5342725">
            <a:off x="4292494" y="6000909"/>
            <a:ext cx="76221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7" name="Connector 57"/>
          <p:cNvCxnSpPr/>
          <p:nvPr/>
        </p:nvCxnSpPr>
        <p:spPr>
          <a:xfrm rot="5363433">
            <a:off x="3873432" y="5784951"/>
            <a:ext cx="11939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6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8" name="Connector 58"/>
          <p:cNvCxnSpPr/>
          <p:nvPr/>
        </p:nvCxnSpPr>
        <p:spPr>
          <a:xfrm rot="5359563">
            <a:off x="3701975" y="5842112"/>
            <a:ext cx="107964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9" name="Connector 59"/>
          <p:cNvCxnSpPr/>
          <p:nvPr/>
        </p:nvCxnSpPr>
        <p:spPr>
          <a:xfrm rot="5364564">
            <a:off x="4159185" y="5765898"/>
            <a:ext cx="12320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8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0" name="Connector 60"/>
          <p:cNvCxnSpPr/>
          <p:nvPr/>
        </p:nvCxnSpPr>
        <p:spPr>
          <a:xfrm rot="5373557">
            <a:off x="3022551" y="5556323"/>
            <a:ext cx="16510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A2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1" name="Connector 61"/>
          <p:cNvCxnSpPr/>
          <p:nvPr/>
        </p:nvCxnSpPr>
        <p:spPr>
          <a:xfrm rot="5364564">
            <a:off x="3409885" y="5765898"/>
            <a:ext cx="12320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6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2" name="Connector 62"/>
          <p:cNvCxnSpPr/>
          <p:nvPr/>
        </p:nvCxnSpPr>
        <p:spPr>
          <a:xfrm rot="5367875">
            <a:off x="4946591" y="5702389"/>
            <a:ext cx="135901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3" name="Connector 63"/>
          <p:cNvCxnSpPr/>
          <p:nvPr/>
        </p:nvCxnSpPr>
        <p:spPr>
          <a:xfrm rot="5364564">
            <a:off x="4806885" y="5765898"/>
            <a:ext cx="123203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4" name="Connector 64"/>
          <p:cNvCxnSpPr/>
          <p:nvPr/>
        </p:nvCxnSpPr>
        <p:spPr>
          <a:xfrm rot="5355935">
            <a:off x="4698919" y="5886572"/>
            <a:ext cx="9907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6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5" name="Connector 65"/>
          <p:cNvCxnSpPr/>
          <p:nvPr/>
        </p:nvCxnSpPr>
        <p:spPr>
          <a:xfrm rot="5347928">
            <a:off x="4559204" y="5962794"/>
            <a:ext cx="83839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6" name="Connector 66"/>
          <p:cNvCxnSpPr/>
          <p:nvPr/>
        </p:nvCxnSpPr>
        <p:spPr>
          <a:xfrm rot="5359563">
            <a:off x="4032175" y="5842112"/>
            <a:ext cx="107964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8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7" name="Connector 67"/>
          <p:cNvCxnSpPr/>
          <p:nvPr/>
        </p:nvCxnSpPr>
        <p:spPr>
          <a:xfrm rot="5359563">
            <a:off x="3600375" y="5842112"/>
            <a:ext cx="107964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A2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8" name="Connector 68"/>
          <p:cNvCxnSpPr/>
          <p:nvPr/>
        </p:nvCxnSpPr>
        <p:spPr>
          <a:xfrm rot="5354776">
            <a:off x="3454316" y="5899275"/>
            <a:ext cx="96536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6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9" name="Connector 69"/>
          <p:cNvCxnSpPr/>
          <p:nvPr/>
        </p:nvCxnSpPr>
        <p:spPr>
          <a:xfrm rot="5367875">
            <a:off x="3663891" y="5702389"/>
            <a:ext cx="135901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" name="Connector 70"/>
          <p:cNvCxnSpPr/>
          <p:nvPr/>
        </p:nvCxnSpPr>
        <p:spPr>
          <a:xfrm rot="5378780">
            <a:off x="2705061" y="5353109"/>
            <a:ext cx="205747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2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4064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571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CCC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让AI成为你高效工作的伙伴，在协作中发掘更多可能，开启智能办公新篇章。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1511</Words>
  <Application>WPS 演示</Application>
  <PresentationFormat/>
  <Paragraphs>106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Arial</vt:lpstr>
      <vt:lpstr>ChillDINGothic SemiBold</vt:lpstr>
      <vt:lpstr>FFont-Family</vt:lpstr>
      <vt:lpstr>Noto Sans SC</vt:lpstr>
      <vt:lpstr>Abril Fatface</vt:lpstr>
      <vt:lpstr>微软雅黑</vt:lpstr>
      <vt:lpstr>Arial Unicode MS</vt:lpstr>
      <vt:lpstr>Abril Fatface</vt:lpstr>
      <vt:lpstr>ChillDINGothic SemiBold</vt:lpstr>
      <vt:lpstr>Active SemiBold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清脆点酱</cp:lastModifiedBy>
  <cp:revision>2</cp:revision>
  <dcterms:created xsi:type="dcterms:W3CDTF">2026-07-05T01:36:44Z</dcterms:created>
  <dcterms:modified xsi:type="dcterms:W3CDTF">2026-07-05T01:38:16Z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{"Label":"1","ContentProducer":"001191110102MACQD9K64010000","ProduceID":"7658850349777292509","ReservedCode1":"","ContentPropagator":"","PropagateID":"","ReservedCode2":""}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81CEDCBB1B32456EB479C6F091F0E7E6_12</vt:lpwstr>
  </property>
</Properties>
</file>