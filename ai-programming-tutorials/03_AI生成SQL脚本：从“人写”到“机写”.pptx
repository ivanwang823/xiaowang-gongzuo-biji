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8.svg" ContentType="image/svg+xml"/>
  <Override PartName="/ppt/media/image40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60" r:id="rId6"/>
    <p:sldId id="258" r:id="rId7"/>
    <p:sldId id="261" r:id="rId8"/>
    <p:sldId id="259" r:id="rId9"/>
    <p:sldId id="257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73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73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大家好。今天聊一个非常接地气的话题——数据库建表。过去我们拿到设计文档，打开客户端，一行一行写CREATE TABLE。现在，我们换个思路：把文档给AI，让它把SQL吐出来。怎么做？答案很简单，就是给AI一个数据库文档.md，让它生成就行。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就这么简单。上传文档，复制上面这段提示词（根据你的实际数据库版本调整），AI会在几十秒内输出完整脚本。你只需要负责最后的审核，工作量从小时级降到分钟级。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大家不需要背，只要记住：背景定语境，实体定字段，规则定约束，查询定索引，环境定语法，数据定样例。按这个框架组织你的.md，AI就能拿到全部施工信息。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生成结果大致就是这样：完整的表结构、注释、索引、甚至插入语句。结构规范，可直接在测试环境执行。当然，这只是示意，实际脚本取决于你文档里的实体和规则。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AI不是盲目翻译，它会把文档里的‘显式信息’（字段表格）和‘隐式逻辑’（业务规则）综合起来，再结合它在海量SQL代码上的训练经验，输出符合最佳实践的脚本。整个过程就是一次‘智能编译’。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传统链路里，人要做大量机械翻译工作：把‘用户姓名’翻译成user_name VARCHAR(50)，把‘唯一’翻译成UNIQUE。AI时代，这些翻译工作完全可以用大模型自动化，我们只需要提供一个AI能读懂的结构化文档，而.md正是最合适的选择。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AI不是要取代人，而是解放人。重复劳动交给AI，我们聚焦于审核、决策和复杂逻辑设计。用好AI，你会发现自己从‘打字员’升级为‘架构师’。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虽然AI生成SQL非常高效，但我们必须警惕潜在的安全风险，特别是SQL注入。这主要源于四个方面：首先，AI的训练数据可能包含不安全的代码模式；其次，AI缺乏业务上下文，不知道哪些是危险的用户输入；第三，存在被称为“提示词注入”的新型攻击；最后，传统安全工具很难检测出AI生成代码中的漏洞。因此，人工审核至关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未来，快速写出高质量的结构化文档，以及精准审核AI输出，将成为开发者的核心竞争力。希望今天的分享能帮大家把建表这件事变得轻松高效。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感谢大家的聆听，现在是问答环节，欢迎大家提问。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svg"/><Relationship Id="rId8" Type="http://schemas.openxmlformats.org/officeDocument/2006/relationships/image" Target="../media/image10.png"/><Relationship Id="rId7" Type="http://schemas.openxmlformats.org/officeDocument/2006/relationships/image" Target="../media/image9.svg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15.svg"/><Relationship Id="rId12" Type="http://schemas.openxmlformats.org/officeDocument/2006/relationships/image" Target="../media/image14.png"/><Relationship Id="rId11" Type="http://schemas.openxmlformats.org/officeDocument/2006/relationships/image" Target="../media/image13.svg"/><Relationship Id="rId10" Type="http://schemas.openxmlformats.org/officeDocument/2006/relationships/image" Target="../media/image12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tags" Target="../tags/tag3.xml"/><Relationship Id="rId7" Type="http://schemas.openxmlformats.org/officeDocument/2006/relationships/tags" Target="../tags/tag2.xml"/><Relationship Id="rId6" Type="http://schemas.openxmlformats.org/officeDocument/2006/relationships/tags" Target="../tags/tag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30" Type="http://schemas.openxmlformats.org/officeDocument/2006/relationships/notesSlide" Target="../notesSlides/notesSlide8.xml"/><Relationship Id="rId3" Type="http://schemas.openxmlformats.org/officeDocument/2006/relationships/tags" Target="../tags/tag11.xml"/><Relationship Id="rId29" Type="http://schemas.openxmlformats.org/officeDocument/2006/relationships/slideLayout" Target="../slideLayouts/slideLayout12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image" Target="../media/image27.svg"/><Relationship Id="rId25" Type="http://schemas.openxmlformats.org/officeDocument/2006/relationships/image" Target="../media/image26.png"/><Relationship Id="rId24" Type="http://schemas.openxmlformats.org/officeDocument/2006/relationships/tags" Target="../tags/tag26.xml"/><Relationship Id="rId23" Type="http://schemas.openxmlformats.org/officeDocument/2006/relationships/tags" Target="../tags/tag25.xml"/><Relationship Id="rId22" Type="http://schemas.openxmlformats.org/officeDocument/2006/relationships/tags" Target="../tags/tag24.xml"/><Relationship Id="rId21" Type="http://schemas.openxmlformats.org/officeDocument/2006/relationships/tags" Target="../tags/tag23.xml"/><Relationship Id="rId20" Type="http://schemas.openxmlformats.org/officeDocument/2006/relationships/tags" Target="../tags/tag22.xml"/><Relationship Id="rId2" Type="http://schemas.openxmlformats.org/officeDocument/2006/relationships/tags" Target="../tags/tag10.xml"/><Relationship Id="rId19" Type="http://schemas.openxmlformats.org/officeDocument/2006/relationships/image" Target="../media/image25.svg"/><Relationship Id="rId18" Type="http://schemas.openxmlformats.org/officeDocument/2006/relationships/image" Target="../media/image24.png"/><Relationship Id="rId17" Type="http://schemas.openxmlformats.org/officeDocument/2006/relationships/tags" Target="../tags/tag21.xml"/><Relationship Id="rId16" Type="http://schemas.openxmlformats.org/officeDocument/2006/relationships/tags" Target="../tags/tag20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image" Target="../media/image23.svg"/><Relationship Id="rId11" Type="http://schemas.openxmlformats.org/officeDocument/2006/relationships/image" Target="../media/image22.png"/><Relationship Id="rId10" Type="http://schemas.openxmlformats.org/officeDocument/2006/relationships/tags" Target="../tags/tag16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svg"/><Relationship Id="rId8" Type="http://schemas.openxmlformats.org/officeDocument/2006/relationships/image" Target="../media/image34.png"/><Relationship Id="rId7" Type="http://schemas.openxmlformats.org/officeDocument/2006/relationships/image" Target="../media/image33.svg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image" Target="../media/image3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AI生成SQL脚本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1000" y="3683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把数据库设计文档变成立即可用的建表语句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5662503"/>
            <a:ext cx="1143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告别手敲DDL，只需一份 Markdown 文档，释放研发效能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实操——只需两步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46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准备结构化文档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按照约定的模板，清晰梳理业务实体、字段属性、数据类型及关联关系，撰写完成一份标准的 .md 格式数据库设计文档。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7994">
            <a:off x="762007" y="2978150"/>
            <a:ext cx="546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3175000"/>
            <a:ext cx="546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上传文件并触发生成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 AI 对话界面上传文档，配合精准的提示词（Prompt），即可一键生成符合规范的 SQL 脚本。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318000"/>
            <a:ext cx="5461000" cy="1841500"/>
          </a:xfrm>
          <a:prstGeom prst="roundRect">
            <a:avLst>
              <a:gd name="adj" fmla="val 0"/>
            </a:avLst>
          </a:prstGeom>
          <a:solidFill>
            <a:srgbClr val="F0FDF4">
              <a:alpha val="7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4508500"/>
            <a:ext cx="5080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高效 Prompt 参考(</a:t>
            </a:r>
            <a:r>
              <a:rPr lang="zh-CN" alt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按实际情况添加要求</a:t>
            </a: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“请基于我上传的这份数据库设计文档，生成完整的 MySQL 8.0 建库建表 SQL 脚本。要求：字符集使用 utf8mb4，为所有表和字段添加详细的 COMMENT 注释；将业务规则转化为唯一索引或约束；并附带初始化测试数据的 INSERT 语句。”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 t="65" b="65"/>
          <a:stretch>
            <a:fillRect/>
          </a:stretch>
        </p:blipFill>
        <p:spPr>
          <a:xfrm>
            <a:off x="6731000" y="2032000"/>
            <a:ext cx="4826000" cy="3505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228600" dist="762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10" name="AutoShape 10"/>
          <p:cNvSpPr/>
          <p:nvPr/>
        </p:nvSpPr>
        <p:spPr>
          <a:xfrm>
            <a:off x="6731000" y="56515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界面演示：AI 即时响应并生成代码的真实效果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一份好的数据库设计.md应该包含什么？（通用模板）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76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78000" y="18796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项目背景与业务语境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2311400"/>
            <a:ext cx="400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简述系统核心用途与业务价值，为AI提供完整的设计语境，用于自动生成贴合业务的表注释和数据库整体说明文档。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365500"/>
            <a:ext cx="5207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52500" y="3556000"/>
            <a:ext cx="76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778000" y="35941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核心实体与字段定义表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778000" y="4025900"/>
            <a:ext cx="400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以结构化表格列出实体名、字段名、数据类型及业务含义，AI可直接映射为精准的 CREATE TABLE 语句与 COLUMN 定义。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080000"/>
            <a:ext cx="5207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52500" y="5270500"/>
            <a:ext cx="76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778000" y="53086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关键业务规则与约束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778000" y="5740400"/>
            <a:ext cx="400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明确字段唯一性、取值范围、外键关联及级联规则，AI可将其智能转化为 UNIQUE、CHECK 约束及高性能索引建议。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1651000"/>
            <a:ext cx="5207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13500" y="1841500"/>
            <a:ext cx="76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239000" y="18796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典型查询与检索场景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239000" y="2311400"/>
            <a:ext cx="400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描述高频业务查询与统计需求，AI据此自动推荐并创建最优索引，甚至预生成常用的 SELECT 与 JOIN 查询语句。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3365500"/>
            <a:ext cx="5207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13500" y="3556000"/>
            <a:ext cx="76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239000" y="35941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技术环境与方言规范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239000" y="4025900"/>
            <a:ext cx="400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指定数据库类型（MySQL/PG/Oracle）、版本号及字符集，AI将严格遵循对应方言生成 SQL，避免语法兼容性问题。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23000" y="5080000"/>
            <a:ext cx="5207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13500" y="5270500"/>
            <a:ext cx="76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239000" y="53086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初始化与测试数据需求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239000" y="5740400"/>
            <a:ext cx="400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说明基础配置数据或测试场景用例，AI可自动生成对应的 INSERT 脚本，帮助开发环境快速完成数据初始化。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AI生成的SQL长什么样？（示意）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10668000" cy="3683000"/>
          </a:xfrm>
          <a:prstGeom prst="roundRect">
            <a:avLst>
              <a:gd name="adj" fmla="val 0"/>
            </a:avLst>
          </a:prstGeom>
          <a:solidFill>
            <a:srgbClr val="1F2937">
              <a:alpha val="88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10668000" cy="4572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57400"/>
            <a:ext cx="152400" cy="1524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320800" y="2057400"/>
            <a:ext cx="152400" cy="152400"/>
          </a:xfrm>
          <a:prstGeom prst="ellipse">
            <a:avLst/>
          </a:prstGeom>
          <a:solidFill>
            <a:srgbClr val="EAB30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625600" y="2057400"/>
            <a:ext cx="152400" cy="152400"/>
          </a:xfrm>
          <a:prstGeom prst="ellipse">
            <a:avLst/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032000" y="2006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user_schema.sql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2540000"/>
            <a:ext cx="10160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22C55E"/>
                </a:solidFill>
                <a:latin typeface="Roboto Mono"/>
                <a:ea typeface="Roboto Mono"/>
                <a:cs typeface="Roboto Mono"/>
                <a:sym typeface="Roboto Mono"/>
              </a:rPr>
              <a:t>CREATE TABLE</a:t>
            </a:r>
            <a:r>
              <a:rPr lang="en-US" sz="14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`user` (</a:t>
            </a:r>
            <a:endParaRPr lang="en-US" sz="1100"/>
          </a:p>
          <a:p>
            <a:pPr marL="31750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`id`</a:t>
            </a:r>
            <a:r>
              <a:rPr lang="en-US" sz="1400" b="0" i="0" u="none" strike="noStrike">
                <a:solidFill>
                  <a:srgbClr val="22C55E"/>
                </a:solidFill>
                <a:latin typeface="Roboto Mono"/>
                <a:ea typeface="Roboto Mono"/>
                <a:cs typeface="Roboto Mono"/>
                <a:sym typeface="Roboto Mono"/>
              </a:rPr>
              <a:t>INT NOT NULL AUTO_INCREMENT</a:t>
            </a:r>
            <a:r>
              <a:rPr lang="en-US" sz="1400" b="0" i="0" u="none" strike="noStrike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COMMENT '用户唯一标识',</a:t>
            </a:r>
            <a:endParaRPr lang="en-US" sz="1400" b="0" i="0" u="none" strike="noStrike">
              <a:solidFill>
                <a:srgbClr val="9CA3A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31750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`username`</a:t>
            </a:r>
            <a:r>
              <a:rPr lang="en-US" sz="1400" b="0" i="0" u="none" strike="noStrike">
                <a:solidFill>
                  <a:srgbClr val="22C55E"/>
                </a:solidFill>
                <a:latin typeface="Roboto Mono"/>
                <a:ea typeface="Roboto Mono"/>
                <a:cs typeface="Roboto Mono"/>
                <a:sym typeface="Roboto Mono"/>
              </a:rPr>
              <a:t>VARCHAR(50) NOT NULL</a:t>
            </a:r>
            <a:r>
              <a:rPr lang="en-US" sz="1400" b="0" i="0" u="none" strike="noStrike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COMMENT '登录账号',</a:t>
            </a:r>
            <a:endParaRPr lang="en-US" sz="1400" b="0" i="0" u="none" strike="noStrike">
              <a:solidFill>
                <a:srgbClr val="9CA3A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31750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`created_at`</a:t>
            </a:r>
            <a:r>
              <a:rPr lang="en-US" sz="1400" b="0" i="0" u="none" strike="noStrike">
                <a:solidFill>
                  <a:srgbClr val="22C55E"/>
                </a:solidFill>
                <a:latin typeface="Roboto Mono"/>
                <a:ea typeface="Roboto Mono"/>
                <a:cs typeface="Roboto Mono"/>
                <a:sym typeface="Roboto Mono"/>
              </a:rPr>
              <a:t>DATETIME DEFAULT CURRENT_TIMESTAMP</a:t>
            </a:r>
            <a:r>
              <a:rPr lang="en-US" sz="1400" b="0" i="0" u="none" strike="noStrike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COMMENT '注册时间'</a:t>
            </a:r>
            <a:endParaRPr lang="en-US" sz="1400" b="0" i="0" u="none" strike="noStrike">
              <a:solidFill>
                <a:srgbClr val="9CA3A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-US" sz="1400" b="0" i="0" u="none" strike="noStrike">
                <a:solidFill>
                  <a:srgbClr val="22C55E"/>
                </a:solidFill>
                <a:latin typeface="Roboto Mono"/>
                <a:ea typeface="Roboto Mono"/>
                <a:cs typeface="Roboto Mono"/>
                <a:sym typeface="Roboto Mono"/>
              </a:rPr>
              <a:t>ENGINE=InnoDB DEFAULT CHARSET=utf8mb4</a:t>
            </a:r>
            <a:r>
              <a:rPr lang="en-US" sz="1400" b="0" i="0" u="none" strike="noStrike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lang="en-US" sz="1400" b="0" i="0" u="none" strike="noStrike">
              <a:solidFill>
                <a:srgbClr val="9CA3A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-- 插入示例数据</a:t>
            </a:r>
            <a:endParaRPr lang="en-US" sz="1400" b="0" i="0" u="none" strike="noStrike">
              <a:solidFill>
                <a:srgbClr val="9CA3A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22C55E"/>
                </a:solidFill>
                <a:latin typeface="Roboto Mono"/>
                <a:ea typeface="Roboto Mono"/>
                <a:cs typeface="Roboto Mono"/>
                <a:sym typeface="Roboto Mono"/>
              </a:rPr>
              <a:t>INSERT INTO</a:t>
            </a:r>
            <a:r>
              <a:rPr lang="en-US" sz="14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`user` (`username`)</a:t>
            </a:r>
            <a:r>
              <a:rPr lang="en-US" sz="1400" b="0" i="0" u="none" strike="noStrike">
                <a:solidFill>
                  <a:srgbClr val="22C55E"/>
                </a:solidFill>
                <a:latin typeface="Roboto Mono"/>
                <a:ea typeface="Roboto Mono"/>
                <a:cs typeface="Roboto Mono"/>
                <a:sym typeface="Roboto Mono"/>
              </a:rPr>
              <a:t>VALUES</a:t>
            </a:r>
            <a:r>
              <a:rPr lang="en-US" sz="1400" b="0" i="0" u="none" strike="noStrike">
                <a:solidFill>
                  <a:srgbClr val="FBBF24"/>
                </a:solidFill>
                <a:latin typeface="Roboto Mono"/>
                <a:ea typeface="Roboto Mono"/>
                <a:cs typeface="Roboto Mono"/>
                <a:sym typeface="Roboto Mono"/>
              </a:rPr>
              <a:t>('demo_user')</a:t>
            </a:r>
            <a:r>
              <a:rPr lang="en-US" sz="14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lang="en-US" sz="1400" b="0" i="0" u="none" strike="noStrike">
              <a:solidFill>
                <a:srgbClr val="E5E7EB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5842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自动生成规范脚本 • ✅ 包含详细注释说明 • ✅ 可直接投入测试使用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AI处理流程（它怎么“吃”这份文档）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18161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文本解析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3114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精准识别文档标题层级，自动提取表格数据与列表内容，完成非结构化文本到结构化信息的初步清洗与提取，奠定数据理解基础。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1651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1841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953000" y="18161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语义映射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23114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将自然语言描述的字段含义映射为标准数据库类型（如VARCHAR/DATETIME），并基于业务场景智能推断字段的合理长度、精度与格式约束。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1651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1841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572500" y="18161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约束推理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91500" y="23114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根据“必须唯一”“不能为空”等业务规则描述，自动生成UNIQUE、NOT NULL、DEFAULT等数据库完整性约束，保障数据质量。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275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318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33500" y="42926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关系推断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47879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识别实体间的业务关联（如“订单归属用户”），智能建议外键字段的添加，并规划关联查询所需的索引，优化数据检索效率。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381500" y="41275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72000" y="4318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4953000" y="42926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语法生成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572000" y="47879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适配指定数据库版本特性，生成标准且规范的DDL建表语句，完整包含ENGINE存储引擎、CHARSET字符集等关键环境配置。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001000" y="41275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91500" y="43180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572500" y="42926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附加产物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191500" y="47879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除核心建表语句外，同步生成性能优化的索引创建语句、易读的字段注释说明，以及开箱即用的初始化数据INSERT脚本。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传统方式 vs AI方式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354195"/>
          </a:xfrm>
          <a:prstGeom prst="roundRect">
            <a:avLst>
              <a:gd name="adj" fmla="val 0"/>
            </a:avLst>
          </a:prstGeom>
          <a:solidFill>
            <a:srgbClr val="F3F4F6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9050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传统方式 · 效率低下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046">
            <a:off x="952508" y="2470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52500" y="26670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文档撰写：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产品/架构师输出非结构化 Word 或 PDF 需求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1750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人工转译：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开发阅读理解后，手动编写建表 DDL 语句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6830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反复调试：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逐字段核对类型、长度与约束，反复修改测试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1910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注释补充：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手动为表和字段添加中文注释，确保可读性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6990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人工审查：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依赖人工走查，难以完全规避低级笔误与遗漏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5334000"/>
            <a:ext cx="4826000" cy="5715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cap="flat" cmpd="sng">
            <a:solidFill>
              <a:srgbClr val="E5C3C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64260" y="5402580"/>
            <a:ext cx="4635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核心痛点：</a:t>
            </a:r>
            <a:r>
              <a:rPr lang="en-US" sz="1300" b="0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大量重复机械工作，耗时耗力，且极易产生人为疏漏与格式不规范问题。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651000"/>
            <a:ext cx="5207000" cy="4354195"/>
          </a:xfrm>
          <a:prstGeom prst="roundRect">
            <a:avLst>
              <a:gd name="adj" fmla="val 0"/>
            </a:avLst>
          </a:prstGeom>
          <a:solidFill>
            <a:srgbClr val="DCFCE7">
              <a:alpha val="60000"/>
            </a:srgbClr>
          </a:solidFill>
          <a:ln w="12700" cap="flat" cmpd="sng">
            <a:solidFill>
              <a:srgbClr val="86EFA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13500" y="19050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AI 方式 · 高效智能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046">
            <a:off x="6413508" y="2470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413500" y="26670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结构化输入：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以清晰的 Markdown 格式定义表结构与业务规则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13500" y="31750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AI 自动生成：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模型秒级解析需求，直接输出标准建表 SQL 脚本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13500" y="36830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智能优化：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自动匹配最优字段类型、长度，并建议索引设计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13500" y="41910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人工审核：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仅需聚焦业务逻辑与设计合理性，进行快速微调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13500" y="46990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快速落地：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生成脚本规范统一，可直接用于测试或生产环境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13500" y="5334000"/>
            <a:ext cx="4826000" cy="571500"/>
          </a:xfrm>
          <a:prstGeom prst="roundRect">
            <a:avLst>
              <a:gd name="adj" fmla="val 0"/>
            </a:avLst>
          </a:prstGeom>
          <a:solidFill>
            <a:srgbClr val="D1FAE5">
              <a:alpha val="100000"/>
            </a:srgbClr>
          </a:solidFill>
          <a:ln cap="flat" cmpd="sng">
            <a:solidFill>
              <a:srgbClr val="A5E1C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540500" y="5376545"/>
            <a:ext cx="4635500" cy="4654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</a:t>
            </a:r>
            <a:r>
              <a:rPr lang="en-US" sz="1300" b="0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彻底释放机械劳动，研发专注于高价值设计，效率提升显著且零格式错误。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人机协作——你仍然需要做什么？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4318000" cy="4318000"/>
          </a:xfrm>
          <a:prstGeom prst="roundRect">
            <a:avLst>
              <a:gd name="adj" fmla="val 0"/>
            </a:avLst>
          </a:prstGeom>
          <a:solidFill>
            <a:srgbClr val="ECFDF5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68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98600" y="1930400"/>
            <a:ext cx="355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擅长处理这些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08250"/>
            <a:ext cx="3810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43000" y="25527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繁重的机械转换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自动处理大量重复性的代码生成、格式转换与基础文本编辑，替代繁琐的手工录入。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985520" y="3657600"/>
            <a:ext cx="3810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43000" y="47879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统一格式规范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严格遵循预设的命名约定、排版规则与文档标准，确保输出内容的一致性与可读性。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975360" y="4808220"/>
            <a:ext cx="3810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143000" y="3771900"/>
            <a:ext cx="355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基础索引建议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基于表结构与查询模式，快速生成基础的索引优化建议，提升初步的查询检索效率。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1000" y="1968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943600" y="1930400"/>
            <a:ext cx="381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人工把关不可少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6"/>
            </p:custDataLst>
          </p:nvPr>
        </p:nvSpPr>
        <p:spPr>
          <a:xfrm>
            <a:off x="5461000" y="2667000"/>
            <a:ext cx="2984500" cy="1841500"/>
          </a:xfrm>
          <a:prstGeom prst="roundRect">
            <a:avLst>
              <a:gd name="adj" fmla="val 0"/>
            </a:avLst>
          </a:prstGeom>
          <a:solidFill>
            <a:srgbClr val="FFF7ED">
              <a:alpha val="80000"/>
            </a:srgbClr>
          </a:solidFill>
          <a:ln w="12700" cap="flat" cmpd="sng">
            <a:solidFill>
              <a:srgbClr val="EA580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7"/>
            </p:custDataLst>
          </p:nvPr>
        </p:nvSpPr>
        <p:spPr>
          <a:xfrm>
            <a:off x="5613400" y="2819400"/>
            <a:ext cx="2730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校验长度与精度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AI默认值可能过于通用，需根据业务场景（如金额、编码）手动调整字段长度、小数位，防止数据溢出或存储空间浪费。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8"/>
            </p:custDataLst>
          </p:nvPr>
        </p:nvSpPr>
        <p:spPr>
          <a:xfrm>
            <a:off x="8636000" y="2667000"/>
            <a:ext cx="2984500" cy="1841500"/>
          </a:xfrm>
          <a:prstGeom prst="roundRect">
            <a:avLst>
              <a:gd name="adj" fmla="val 0"/>
            </a:avLst>
          </a:prstGeom>
          <a:solidFill>
            <a:srgbClr val="FFF7ED">
              <a:alpha val="80000"/>
            </a:srgbClr>
          </a:solidFill>
          <a:ln w="12700" cap="flat" cmpd="sng">
            <a:solidFill>
              <a:srgbClr val="EA580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9"/>
            </p:custDataLst>
          </p:nvPr>
        </p:nvSpPr>
        <p:spPr>
          <a:xfrm>
            <a:off x="8788400" y="2819400"/>
            <a:ext cx="2730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决策物理外键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根据团队规范、业务耦合度及系统性能需求，判断是否启用物理外键，平衡数据一致性保障与数据库查询效率。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0"/>
            </p:custDataLst>
          </p:nvPr>
        </p:nvSpPr>
        <p:spPr>
          <a:xfrm>
            <a:off x="5461000" y="4635500"/>
            <a:ext cx="2984500" cy="1841500"/>
          </a:xfrm>
          <a:prstGeom prst="roundRect">
            <a:avLst>
              <a:gd name="adj" fmla="val 0"/>
            </a:avLst>
          </a:prstGeom>
          <a:solidFill>
            <a:srgbClr val="FFF7ED">
              <a:alpha val="80000"/>
            </a:srgbClr>
          </a:solidFill>
          <a:ln w="12700" cap="flat" cmpd="sng">
            <a:solidFill>
              <a:srgbClr val="EA580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11"/>
            </p:custDataLst>
          </p:nvPr>
        </p:nvSpPr>
        <p:spPr>
          <a:xfrm>
            <a:off x="5613400" y="4787900"/>
            <a:ext cx="2730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筛查敏感信息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严格检查生成内容，确保初始化数据或示例中不包含真实的用户隐私、企业机密或未脱敏的敏感数据，规避合规风险。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>
            <p:custDataLst>
              <p:tags r:id="rId12"/>
            </p:custDataLst>
          </p:nvPr>
        </p:nvSpPr>
        <p:spPr>
          <a:xfrm>
            <a:off x="8636000" y="4635500"/>
            <a:ext cx="2984500" cy="1841500"/>
          </a:xfrm>
          <a:prstGeom prst="roundRect">
            <a:avLst>
              <a:gd name="adj" fmla="val 0"/>
            </a:avLst>
          </a:prstGeom>
          <a:solidFill>
            <a:srgbClr val="FFF7ED">
              <a:alpha val="80000"/>
            </a:srgbClr>
          </a:solidFill>
          <a:ln w="12700" cap="flat" cmpd="sng">
            <a:solidFill>
              <a:srgbClr val="EA580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>
            <p:custDataLst>
              <p:tags r:id="rId13"/>
            </p:custDataLst>
          </p:nvPr>
        </p:nvSpPr>
        <p:spPr>
          <a:xfrm>
            <a:off x="8788400" y="4787900"/>
            <a:ext cx="2730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补全业务规则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针对复杂的业务流转、状态机逻辑或金额计算，补充必要的触发器、存储过程或应用层校验，确保业务逻辑闭环。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22C55E">
              <a:alpha val="5000"/>
            </a:srgbClr>
          </a:solidFill>
          <a:ln cap="flat" cmpd="sng">
            <a:solidFill>
              <a:srgbClr val="0CAC47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-1016000"/>
            <a:ext cx="2540000" cy="2540000"/>
          </a:xfrm>
          <a:prstGeom prst="ellipse">
            <a:avLst/>
          </a:prstGeom>
          <a:solidFill>
            <a:srgbClr val="F97316">
              <a:alpha val="5000"/>
            </a:srgbClr>
          </a:solidFill>
          <a:ln cap="flat" cmpd="sng">
            <a:solidFill>
              <a:srgbClr val="E05C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AI生成代码的SQL注入风险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762000" y="15240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1016000" y="1778000"/>
            <a:ext cx="609600" cy="6096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8400" y="19304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778000" y="1778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训练数据“污染”与模式继承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1016000" y="26035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模型从互联网海量代码中学习时，容易复刻历史上不安全的字符串拼接写法（如直接拼接用户输入）。由于AI不理解漏洞原理，会将这些危险模式当作“正确范式”继承并复用。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6286500" y="15240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6540500" y="1778000"/>
            <a:ext cx="609600" cy="6096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92900" y="19304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7302500" y="1778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缺乏真实业务上下文感知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6540500" y="249682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AI作为预测模型，无法理解代码运行的真实环境与用户输入的不可信来源。它优先满足功能实现的语法正确性，却忽略了“外部输入必须校验”这一关键的安全上下文逻辑。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762000" y="40005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1016000" y="4254500"/>
            <a:ext cx="609600" cy="6096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68400" y="44069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0"/>
            </p:custDataLst>
          </p:nvPr>
        </p:nvSpPr>
        <p:spPr>
          <a:xfrm>
            <a:off x="1778000" y="42545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提示词注入（Prompt Injection）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1"/>
            </p:custDataLst>
          </p:nvPr>
        </p:nvSpPr>
        <p:spPr>
          <a:xfrm>
            <a:off x="1016000" y="499872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攻击者可在提问中植入隐蔽的恶意指令，诱导AI生成包含硬编码漏洞或破坏性逻辑的SQL语句。这种攻击利用模型对用户意图的过度拟合，绕过基础的安全防御机制。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22"/>
            </p:custDataLst>
          </p:nvPr>
        </p:nvSpPr>
        <p:spPr>
          <a:xfrm>
            <a:off x="6286500" y="40005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>
            <p:custDataLst>
              <p:tags r:id="rId23"/>
            </p:custDataLst>
          </p:nvPr>
        </p:nvSpPr>
        <p:spPr>
          <a:xfrm>
            <a:off x="6540500" y="4254500"/>
            <a:ext cx="609600" cy="6096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692900" y="44069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>
            <p:custDataLst>
              <p:tags r:id="rId27"/>
            </p:custDataLst>
          </p:nvPr>
        </p:nvSpPr>
        <p:spPr>
          <a:xfrm>
            <a:off x="7302500" y="42545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传统安全工具的检测盲区</a:t>
            </a: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28"/>
            </p:custDataLst>
          </p:nvPr>
        </p:nvSpPr>
        <p:spPr>
          <a:xfrm>
            <a:off x="6540500" y="496824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AI生成代码的动态性与非标准化写法，使得传统SAST工具的漏洞检出率普遍低于40%。代码的不可预测性和隐蔽性大幅增加，极易造成自动化安全扫描的漏报与误判。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总结与建议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0447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1879600"/>
            <a:ext cx="927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核心洞察：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将数据库设计文档整理为结构化的 Markdown 格式，是实现 AI 精准、高效生成合规 SQL 的最佳输入方式。这不仅规范了设计标准，更能最大化 AI 的辅助价值，显著降低沟通与试错成本。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683000"/>
            <a:ext cx="3429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937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9624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统一文档模板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946">
            <a:off x="1016014" y="4502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46736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制定标准化的 .md 模板，涵盖背景描述、实体定义、业务规则、查询场景、部署环境及数据样例六大核心要素，确保输入信息的完整性与规范性。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3683000"/>
            <a:ext cx="3429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3937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43500" y="39624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AI先行，人工复核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946">
            <a:off x="4635514" y="4502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35500" y="46736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在新项目建表流程中，优先利用 AI 生成 SQL 初稿，随后由资深工程师进行人工审核与调优，兼顾效率与严谨性，有效规避设计缺陷与安全风险。(防注入漏洞)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01000" y="3683000"/>
            <a:ext cx="3429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5000" y="3937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63000" y="39624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持续优化提示词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946">
            <a:off x="8255014" y="4502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55000" y="46736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建立提示词迭代机制，基于实际输出反馈，不断补充约束条件与业务细节，让 AI 生成的 SQL 更贴合团队代码规范与业务逻辑偏好。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270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048000"/>
            <a:ext cx="3556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22C55E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330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3302000"/>
            <a:ext cx="266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文档不规范怎么办？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323">
            <a:off x="1270013" y="3930650"/>
            <a:ext cx="3048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270000" y="4127500"/>
            <a:ext cx="3048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无需手动繁琐调整，直接利用AI进行智能格式化。它能自动识别内容结构，将非标准文档快速转化为规范、清晰的格式，极大提升处理效率。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0" y="3048000"/>
            <a:ext cx="3556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22C55E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4000" y="3302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8382000" y="3302000"/>
            <a:ext cx="266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支持Oracle或PG吗？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323">
            <a:off x="7874013" y="3930650"/>
            <a:ext cx="3048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7874000" y="4127500"/>
            <a:ext cx="3048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全面支持主流数据库。只需在提示词中明确指定目标数据库类型（如Oracle、PostgreSQL），AI将自动适配语法差异，生成符合对应数据库规范的SQL语句。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0,&quot;left&quot;:430,&quot;top&quot;:210,&quot;width&quot;:485}"/>
</p:tagLst>
</file>

<file path=ppt/tags/tag2.xml><?xml version="1.0" encoding="utf-8"?>
<p:tagLst xmlns:p="http://schemas.openxmlformats.org/presentationml/2006/main">
  <p:tag name="KSO_WM_DIAGRAM_VIRTUALLY_FRAME" val="{&quot;height&quot;:300,&quot;left&quot;:430,&quot;top&quot;:210,&quot;width&quot;:485}"/>
</p:tagLst>
</file>

<file path=ppt/tags/tag3.xml><?xml version="1.0" encoding="utf-8"?>
<p:tagLst xmlns:p="http://schemas.openxmlformats.org/presentationml/2006/main">
  <p:tag name="KSO_WM_DIAGRAM_VIRTUALLY_FRAME" val="{&quot;height&quot;:300,&quot;left&quot;:430,&quot;top&quot;:210,&quot;width&quot;:485}"/>
</p:tagLst>
</file>

<file path=ppt/tags/tag4.xml><?xml version="1.0" encoding="utf-8"?>
<p:tagLst xmlns:p="http://schemas.openxmlformats.org/presentationml/2006/main">
  <p:tag name="KSO_WM_DIAGRAM_VIRTUALLY_FRAME" val="{&quot;height&quot;:300,&quot;left&quot;:430,&quot;top&quot;:210,&quot;width&quot;:485}"/>
</p:tagLst>
</file>

<file path=ppt/tags/tag5.xml><?xml version="1.0" encoding="utf-8"?>
<p:tagLst xmlns:p="http://schemas.openxmlformats.org/presentationml/2006/main">
  <p:tag name="KSO_WM_DIAGRAM_VIRTUALLY_FRAME" val="{&quot;height&quot;:300,&quot;left&quot;:430,&quot;top&quot;:210,&quot;width&quot;:485}"/>
</p:tagLst>
</file>

<file path=ppt/tags/tag6.xml><?xml version="1.0" encoding="utf-8"?>
<p:tagLst xmlns:p="http://schemas.openxmlformats.org/presentationml/2006/main">
  <p:tag name="KSO_WM_DIAGRAM_VIRTUALLY_FRAME" val="{&quot;height&quot;:300,&quot;left&quot;:430,&quot;top&quot;:210,&quot;width&quot;:485}"/>
</p:tagLst>
</file>

<file path=ppt/tags/tag7.xml><?xml version="1.0" encoding="utf-8"?>
<p:tagLst xmlns:p="http://schemas.openxmlformats.org/presentationml/2006/main">
  <p:tag name="KSO_WM_DIAGRAM_VIRTUALLY_FRAME" val="{&quot;height&quot;:300,&quot;left&quot;:430,&quot;top&quot;:210,&quot;width&quot;:485}"/>
</p:tagLst>
</file>

<file path=ppt/tags/tag8.xml><?xml version="1.0" encoding="utf-8"?>
<p:tagLst xmlns:p="http://schemas.openxmlformats.org/presentationml/2006/main">
  <p:tag name="KSO_WM_DIAGRAM_VIRTUALLY_FRAME" val="{&quot;height&quot;:300,&quot;left&quot;:430,&quot;top&quot;:210,&quot;width&quot;:485}"/>
</p:tagLst>
</file>

<file path=ppt/tags/tag9.xml><?xml version="1.0" encoding="utf-8"?>
<p:tagLst xmlns:p="http://schemas.openxmlformats.org/presentationml/2006/main">
  <p:tag name="KSO_WM_DIAGRAM_VIRTUALLY_FRAME" val="{&quot;height&quot;:365,&quot;left&quot;:60,&quot;top&quot;:120,&quot;width&quot;:850}"/>
</p:tagLst>
</file>

<file path=ppt/tags/tag10.xml><?xml version="1.0" encoding="utf-8"?>
<p:tagLst xmlns:p="http://schemas.openxmlformats.org/presentationml/2006/main">
  <p:tag name="KSO_WM_DIAGRAM_VIRTUALLY_FRAME" val="{&quot;height&quot;:365,&quot;left&quot;:60,&quot;top&quot;:120,&quot;width&quot;:850}"/>
</p:tagLst>
</file>

<file path=ppt/tags/tag11.xml><?xml version="1.0" encoding="utf-8"?>
<p:tagLst xmlns:p="http://schemas.openxmlformats.org/presentationml/2006/main">
  <p:tag name="KSO_WM_DIAGRAM_VIRTUALLY_FRAME" val="{&quot;height&quot;:365,&quot;left&quot;:60,&quot;top&quot;:120,&quot;width&quot;:850}"/>
</p:tagLst>
</file>

<file path=ppt/tags/tag12.xml><?xml version="1.0" encoding="utf-8"?>
<p:tagLst xmlns:p="http://schemas.openxmlformats.org/presentationml/2006/main">
  <p:tag name="KSO_WM_DIAGRAM_VIRTUALLY_FRAME" val="{&quot;height&quot;:365,&quot;left&quot;:60,&quot;top&quot;:120,&quot;width&quot;:850}"/>
</p:tagLst>
</file>

<file path=ppt/tags/tag13.xml><?xml version="1.0" encoding="utf-8"?>
<p:tagLst xmlns:p="http://schemas.openxmlformats.org/presentationml/2006/main">
  <p:tag name="KSO_WM_DIAGRAM_VIRTUALLY_FRAME" val="{&quot;height&quot;:365,&quot;left&quot;:60,&quot;top&quot;:120,&quot;width&quot;:850}"/>
</p:tagLst>
</file>

<file path=ppt/tags/tag14.xml><?xml version="1.0" encoding="utf-8"?>
<p:tagLst xmlns:p="http://schemas.openxmlformats.org/presentationml/2006/main">
  <p:tag name="KSO_WM_DIAGRAM_VIRTUALLY_FRAME" val="{&quot;height&quot;:365,&quot;left&quot;:60,&quot;top&quot;:120,&quot;width&quot;:850}"/>
</p:tagLst>
</file>

<file path=ppt/tags/tag15.xml><?xml version="1.0" encoding="utf-8"?>
<p:tagLst xmlns:p="http://schemas.openxmlformats.org/presentationml/2006/main">
  <p:tag name="KSO_WM_DIAGRAM_VIRTUALLY_FRAME" val="{&quot;height&quot;:365,&quot;left&quot;:60,&quot;top&quot;:120,&quot;width&quot;:850}"/>
</p:tagLst>
</file>

<file path=ppt/tags/tag16.xml><?xml version="1.0" encoding="utf-8"?>
<p:tagLst xmlns:p="http://schemas.openxmlformats.org/presentationml/2006/main">
  <p:tag name="KSO_WM_DIAGRAM_VIRTUALLY_FRAME" val="{&quot;height&quot;:365,&quot;left&quot;:60,&quot;top&quot;:120,&quot;width&quot;:850}"/>
</p:tagLst>
</file>

<file path=ppt/tags/tag17.xml><?xml version="1.0" encoding="utf-8"?>
<p:tagLst xmlns:p="http://schemas.openxmlformats.org/presentationml/2006/main">
  <p:tag name="KSO_WM_DIAGRAM_VIRTUALLY_FRAME" val="{&quot;height&quot;:365,&quot;left&quot;:60,&quot;top&quot;:120,&quot;width&quot;:850}"/>
</p:tagLst>
</file>

<file path=ppt/tags/tag18.xml><?xml version="1.0" encoding="utf-8"?>
<p:tagLst xmlns:p="http://schemas.openxmlformats.org/presentationml/2006/main">
  <p:tag name="KSO_WM_DIAGRAM_VIRTUALLY_FRAME" val="{&quot;height&quot;:365,&quot;left&quot;:60,&quot;top&quot;:120,&quot;width&quot;:850}"/>
</p:tagLst>
</file>

<file path=ppt/tags/tag19.xml><?xml version="1.0" encoding="utf-8"?>
<p:tagLst xmlns:p="http://schemas.openxmlformats.org/presentationml/2006/main">
  <p:tag name="KSO_WM_DIAGRAM_VIRTUALLY_FRAME" val="{&quot;height&quot;:365,&quot;left&quot;:60,&quot;top&quot;:120,&quot;width&quot;:850}"/>
</p:tagLst>
</file>

<file path=ppt/tags/tag20.xml><?xml version="1.0" encoding="utf-8"?>
<p:tagLst xmlns:p="http://schemas.openxmlformats.org/presentationml/2006/main">
  <p:tag name="KSO_WM_DIAGRAM_VIRTUALLY_FRAME" val="{&quot;height&quot;:365,&quot;left&quot;:60,&quot;top&quot;:120,&quot;width&quot;:850}"/>
</p:tagLst>
</file>

<file path=ppt/tags/tag21.xml><?xml version="1.0" encoding="utf-8"?>
<p:tagLst xmlns:p="http://schemas.openxmlformats.org/presentationml/2006/main">
  <p:tag name="KSO_WM_DIAGRAM_VIRTUALLY_FRAME" val="{&quot;height&quot;:365,&quot;left&quot;:60,&quot;top&quot;:120,&quot;width&quot;:850}"/>
</p:tagLst>
</file>

<file path=ppt/tags/tag22.xml><?xml version="1.0" encoding="utf-8"?>
<p:tagLst xmlns:p="http://schemas.openxmlformats.org/presentationml/2006/main">
  <p:tag name="KSO_WM_DIAGRAM_VIRTUALLY_FRAME" val="{&quot;height&quot;:365,&quot;left&quot;:60,&quot;top&quot;:120,&quot;width&quot;:850}"/>
</p:tagLst>
</file>

<file path=ppt/tags/tag23.xml><?xml version="1.0" encoding="utf-8"?>
<p:tagLst xmlns:p="http://schemas.openxmlformats.org/presentationml/2006/main">
  <p:tag name="KSO_WM_DIAGRAM_VIRTUALLY_FRAME" val="{&quot;height&quot;:365,&quot;left&quot;:60,&quot;top&quot;:120,&quot;width&quot;:850}"/>
</p:tagLst>
</file>

<file path=ppt/tags/tag24.xml><?xml version="1.0" encoding="utf-8"?>
<p:tagLst xmlns:p="http://schemas.openxmlformats.org/presentationml/2006/main">
  <p:tag name="KSO_WM_DIAGRAM_VIRTUALLY_FRAME" val="{&quot;height&quot;:365,&quot;left&quot;:60,&quot;top&quot;:120,&quot;width&quot;:850}"/>
</p:tagLst>
</file>

<file path=ppt/tags/tag25.xml><?xml version="1.0" encoding="utf-8"?>
<p:tagLst xmlns:p="http://schemas.openxmlformats.org/presentationml/2006/main">
  <p:tag name="KSO_WM_DIAGRAM_VIRTUALLY_FRAME" val="{&quot;height&quot;:365,&quot;left&quot;:60,&quot;top&quot;:120,&quot;width&quot;:850}"/>
</p:tagLst>
</file>

<file path=ppt/tags/tag26.xml><?xml version="1.0" encoding="utf-8"?>
<p:tagLst xmlns:p="http://schemas.openxmlformats.org/presentationml/2006/main">
  <p:tag name="KSO_WM_DIAGRAM_VIRTUALLY_FRAME" val="{&quot;height&quot;:365,&quot;left&quot;:60,&quot;top&quot;:120,&quot;width&quot;:850}"/>
</p:tagLst>
</file>

<file path=ppt/tags/tag27.xml><?xml version="1.0" encoding="utf-8"?>
<p:tagLst xmlns:p="http://schemas.openxmlformats.org/presentationml/2006/main">
  <p:tag name="KSO_WM_DIAGRAM_VIRTUALLY_FRAME" val="{&quot;height&quot;:365,&quot;left&quot;:60,&quot;top&quot;:120,&quot;width&quot;:850}"/>
</p:tagLst>
</file>

<file path=ppt/tags/tag28.xml><?xml version="1.0" encoding="utf-8"?>
<p:tagLst xmlns:p="http://schemas.openxmlformats.org/presentationml/2006/main">
  <p:tag name="KSO_WM_DIAGRAM_VIRTUALLY_FRAME" val="{&quot;height&quot;:365,&quot;left&quot;:60,&quot;top&quot;:120,&quot;width&quot;:85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3311</Words>
  <Application>WPS 演示</Application>
  <PresentationFormat/>
  <Paragraphs>195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Arial</vt:lpstr>
      <vt:lpstr>Noto Sans SC</vt:lpstr>
      <vt:lpstr>Roboto Mono</vt:lpstr>
      <vt:lpstr>FFont-Family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清脆点酱</cp:lastModifiedBy>
  <cp:revision>5</cp:revision>
  <dcterms:created xsi:type="dcterms:W3CDTF">2026-07-07T12:10:00Z</dcterms:created>
  <dcterms:modified xsi:type="dcterms:W3CDTF">2026-07-08T03:41:34Z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{"Label":"1","ContentProducer":"001191110102MACQD9K64010000","ProduceID":"7659754346737716197","ReservedCode1":"","ContentPropagator":"","PropagateID":"","ReservedCode2":""}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8A9813ADF16C423EBDA6E82960607CB7_12</vt:lpwstr>
  </property>
</Properties>
</file>